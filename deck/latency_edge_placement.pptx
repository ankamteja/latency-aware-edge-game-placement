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1" r:id="rId23"/>
    <p:sldId id="257" r:id="rId9"/>
    <p:sldId id="258" r:id="rId10"/>
    <p:sldId id="259" r:id="rId11"/>
    <p:sldId id="260" r:id="rId12"/>
    <p:sldId id="261" r:id="rId13"/>
    <p:sldId id="270" r:id="rId22"/>
    <p:sldId id="262" r:id="rId14"/>
    <p:sldId id="263" r:id="rId15"/>
    <p:sldId id="264" r:id="rId16"/>
    <p:sldId id="265" r:id="rId17"/>
    <p:sldId id="268" r:id="rId20"/>
    <p:sldId id="269" r:id="rId21"/>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is about a mismatch between how edge placement algorithms choose a server node and what players actually experience when that node gets busy. Repository and a replay of the live dashboard: github.com/ankamteja/latency-aware-edge-game-placement. 10 minutes, one idea per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navigation routing by distance only. The shortest road is not always the fastest; traffic matters.</a:t>
            </a:r>
          </a:p>
          <a:p>
            <a:r>
              <a:t>Edge placement makes the same mistake. The standard formula measures propagation delay and link bandwidth but knows nothing about how many players are already on the node.</a:t>
            </a:r>
          </a:p>
          <a:p>
            <a:r>
              <a:t>Edge nodes are small and capped. Once crowded, queueing inside the game thread exceeds the network advantage. The nearest node becomes the worst choice.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formula has two terms: propagation (distance) and transmission (bandwidth). Both are network properties. The server is treated as instantaneous.</a:t>
            </a:r>
          </a:p>
          <a:p>
            <a:r>
              <a:t>At low load that is fine. At high load the game's main tick loop queues work: every player action waits for the previous tick. This queueing delay can be hundreds of milliseconds, dwarfing the 5 ms propagation advantage.</a:t>
            </a:r>
          </a:p>
          <a:p>
            <a:r>
              <a:t>The deeper problem: placement research evaluates algorithms in simulators built on this same formula. The omitted term never appears, so the error is never noticed.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can we measure the error the formula ignores and use that measurement to make better placement decisions?</a:t>
            </a:r>
          </a:p>
          <a:p>
            <a:r>
              <a:t>Four sub-goals drive the experimental design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testbed runs entirely on one physical machine. Containerlab creates virtual network paths with precisely controlled latency.</a:t>
            </a:r>
          </a:p>
          <a:p>
            <a:r>
              <a:t>Each node runs a real Minecraft Paper server, capped to its CPU quota via Linux cgroups. Bots use the mineflayer library, which speaks the real game protocol, not HTTP.</a:t>
            </a:r>
          </a:p>
          <a:p>
            <a:r>
              <a:t>This lets us measure game-thread latency, not synthetic web-request latency.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probes run at the same time, on the same link, under the same load, so the delay can be traced to a layer instead of guessed. Probe 1 is what the formula predicts; anything above it is delay the formula cannot see. p95 means 95% of messages were faster than this value: it shows what the unluckiest players feel, not the average. Measured on edge1 from 1 to 60 players: ICMP stayed at 5.1 to 5.3 ms, the status ping moved only at 60 players (16 to 32 ms), and the in-game p95 went from 6 ms to 6.7 to 8.6 seconds. Source: docs/08-results.md 8.2.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replicates of the grid, time of day frozen, idle host. Each cell is 90 s of steady load. The network round trip is flat everywhere; the latency growth is all inside the server. The point to make: mean tick time looks healthy while the tail is already breaking. At the knee the two replicates disagree a lot (edge2 at 80: 34 ms vs 2.7 s), which is why we quote a range there. Source: docs/08-results.md section 8.2.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single-match version of the question. Table: measured p95, mean of both replicates. The figure shows every node; the dashed lines are what the load-blind formula predicts, flat at the network RTT. Honest framing: the inversion appears between 40 and 60 players on this testbed because we chose 0.5 core and 5 ms; the claim is that it exists and is large, not the exact player count. Source: 08-results 8.3.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the artifact: every row is a measured window, not a formula output. The first error line fits on one replicate and tests on the other. The second fits on both and tests on two more replicates measured hours later and never used in a fit. The ranking holds there, but learned vs queueing is not a significant difference on those 50 cells. F1 is for the decision 'will this node break 50 ms at this load': the analytical model never predicts a violation, so its accuracy looks fine and its F1 is zero. Source: 08-results 8.4.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end-to-end test. For 40 to 160 players in matches of 10, each model's brute-force optimum was computed and then deployed on the testbed with every loaded node running at once. The clock grades the models, not the models themselves. The analytical model predicted 5-15 ms for all of these. Be careful with the last bullet: the learned model does not place better than the queueing model here. Source: results/placement/deployments.csv, 08-results 8.5.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on the previous slides comes with these limits. The power-mode effect is the most interesting one: with nothing else changed, the laptop's Balanced mode made every node 2-3x slower and moved edge1's knee from 50 players to under 20. No latency formula sees that; a measured model does. Source: 08-results 8.6.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deployed and live numbers, they are the strongest evidence. Repo, raw data, dataset and the live dashboard: github.com/ankamteja/latency-aware-edge-game-placement.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placement result in closed loop. A controller re-runs placement every 10 s on live measurements and moves whole matches. Each controller ran three times; the chart shows each one's median run. The load-blind range is wide because in one run edge1's players most likely timed out, which lowered the latency of those left. Every run sees exactly the same arrivals and departures; new matches land on the nearest node, as a distance-based matchmaker would do. The formula sees 5 ms on edge1 at any load, so it never acts. Source: docs/09-live.md 9.6, results/live/.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node got slower and nothing told the controller: a noisy neighbour, a throttled host, a smaller VM. The offline model keeps using the curve measured at 0.5 cores. The live-corrected model compares every 10 s window with its prediction, estimates how much more each player now costs edge1, and remembers loads it measured over budget for 5 minutes. Be honest if asked: the memory was added after a first run in which the model noticed, then forgot and moved a match back. And the correction also learns from the seconds in which a new match is logging in, so in two of its three runs it already distrusted edge1 and had moved almost everyone off before the cut. Only one run, with 30 players on edge1 at the cut, shows it detecting the change: it moved a match off 27 s later. Source: docs/09-live.md 9.6.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is built. Everything is scripts in the repository: the topology and its checks, the bots and probes, the cell collector, the dataset builder, the three models behind one interface so every algorithm runs with any of them, the placement search and deployer, and the live controller with its dashboard. One command rebuilds every number in the report from the raw measurements. Source: README, report Section III.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talk in one slide: the formula placement algorithms use has no load term, so on a busy edge node it is wrong by seconds, and a simulator built on it cannot show that. Every number here is measured, and each comes back with its detail on a later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280160"/>
            <a:ext cx="11064240" cy="1554480"/>
          </a:xfrm>
          <a:prstGeom prst="rect">
            <a:avLst/>
          </a:prstGeom>
          <a:noFill/>
        </p:spPr>
        <p:txBody>
          <a:bodyPr wrap="square">
            <a:spAutoFit/>
          </a:bodyPr>
          <a:lstStyle/>
          <a:p>
            <a:pPr algn="ctr"/>
            <a:r>
              <a:rPr sz="4200" b="1" i="0">
                <a:solidFill>
                  <a:srgbClr val="FFFFFF"/>
                </a:solidFill>
              </a:rPr>
              <a:t>Latency-Aware Edge Game Server Placement</a:t>
            </a:r>
          </a:p>
        </p:txBody>
      </p:sp>
      <p:sp>
        <p:nvSpPr>
          <p:cNvPr id="5" name="TextBox 4"/>
          <p:cNvSpPr txBox="1"/>
          <p:nvPr/>
        </p:nvSpPr>
        <p:spPr>
          <a:xfrm>
            <a:off x="548640" y="2926080"/>
            <a:ext cx="11064240" cy="1005840"/>
          </a:xfrm>
          <a:prstGeom prst="rect">
            <a:avLst/>
          </a:prstGeom>
          <a:noFill/>
        </p:spPr>
        <p:txBody>
          <a:bodyPr wrap="square">
            <a:spAutoFit/>
          </a:bodyPr>
          <a:lstStyle/>
          <a:p>
            <a:pPr algn="ctr"/>
            <a:r>
              <a:rPr sz="2100" b="0" i="1">
                <a:solidFill>
                  <a:srgbClr val="00C2B2"/>
                </a:solidFill>
              </a:rPr>
              <a:t>Measuring how server load breaks the analytical latency model
used in edge placement decisions</a:t>
            </a:r>
          </a:p>
        </p:txBody>
      </p:sp>
      <p:sp>
        <p:nvSpPr>
          <p:cNvPr id="6" name="Rectangle 5"/>
          <p:cNvSpPr/>
          <p:nvPr/>
        </p:nvSpPr>
        <p:spPr>
          <a:xfrm>
            <a:off x="4023360" y="4069080"/>
            <a:ext cx="4114800" cy="36576"/>
          </a:xfrm>
          <a:prstGeom prst="rect">
            <a:avLst/>
          </a:prstGeom>
          <a:solidFill>
            <a:srgbClr val="7B6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297680"/>
            <a:ext cx="11064240" cy="457200"/>
          </a:xfrm>
          <a:prstGeom prst="rect">
            <a:avLst/>
          </a:prstGeom>
          <a:noFill/>
        </p:spPr>
        <p:txBody>
          <a:bodyPr wrap="square">
            <a:spAutoFit/>
          </a:bodyPr>
          <a:lstStyle/>
          <a:p>
            <a:pPr algn="ctr"/>
            <a:r>
              <a:rPr sz="1700" b="0" i="0">
                <a:solidFill>
                  <a:srgbClr val="8AA0B8"/>
                </a:solidFill>
              </a:rPr>
              <a:t>Ankam Charan Teja  ·  Aranya Roy  ·  Nikhil Kumar Reddy  ·  Yashvardhan Deep  ·  Akshit Singh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The Problem: Nearest Is Not Always Fastest</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A navigation analogy: routing blind to traffic</a:t>
            </a:r>
          </a:p>
        </p:txBody>
      </p:sp>
      <p:sp>
        <p:nvSpPr>
          <p:cNvPr id="5" name="Rectangle 4"/>
          <p:cNvSpPr/>
          <p:nvPr/>
        </p:nvSpPr>
        <p:spPr>
          <a:xfrm>
            <a:off x="274320" y="1463040"/>
            <a:ext cx="5394960" cy="42976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600200"/>
            <a:ext cx="5065776" cy="4023360"/>
          </a:xfrm>
          <a:prstGeom prst="rect">
            <a:avLst/>
          </a:prstGeom>
          <a:noFill/>
        </p:spPr>
        <p:txBody>
          <a:bodyPr wrap="square">
            <a:spAutoFit/>
          </a:bodyPr>
          <a:lstStyle/>
          <a:p>
            <a:pPr algn="l"/>
            <a:r>
              <a:rPr sz="1800" b="1">
                <a:solidFill>
                  <a:srgbClr val="FFD600"/>
                </a:solidFill>
              </a:rPr>
              <a:t>Maps without traffic</a:t>
            </a:r>
          </a:p>
          <a:p>
            <a:pPr algn="l"/>
            <a:r>
              <a:rPr sz="1700">
                <a:solidFill>
                  <a:srgbClr val="FFFFFF"/>
                </a:solidFill>
              </a:rPr>
              <a:t>▸ Your GPS picks the shortest route by distance</a:t>
            </a:r>
          </a:p>
          <a:p>
            <a:pPr algn="l"/>
            <a:r>
              <a:rPr sz="1700">
                <a:solidFill>
                  <a:srgbClr val="FFFFFF"/>
                </a:solidFill>
              </a:rPr>
              <a:t>▸ It does not see that the short road is jammed</a:t>
            </a:r>
          </a:p>
          <a:p>
            <a:pPr algn="l"/>
            <a:r>
              <a:rPr sz="1700">
                <a:solidFill>
                  <a:srgbClr val="FFFFFF"/>
                </a:solidFill>
              </a:rPr>
              <a:t>▸ You arrive later than if you had taken the longer road</a:t>
            </a:r>
          </a:p>
        </p:txBody>
      </p:sp>
      <p:sp>
        <p:nvSpPr>
          <p:cNvPr id="7" name="Rectangle 6"/>
          <p:cNvSpPr/>
          <p:nvPr/>
        </p:nvSpPr>
        <p:spPr>
          <a:xfrm>
            <a:off x="6035040" y="1463040"/>
            <a:ext cx="5852160" cy="42976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99632" y="1600200"/>
            <a:ext cx="5522976" cy="4023360"/>
          </a:xfrm>
          <a:prstGeom prst="rect">
            <a:avLst/>
          </a:prstGeom>
          <a:noFill/>
        </p:spPr>
        <p:txBody>
          <a:bodyPr wrap="square">
            <a:spAutoFit/>
          </a:bodyPr>
          <a:lstStyle/>
          <a:p>
            <a:pPr algn="l"/>
            <a:r>
              <a:rPr sz="1800" b="1">
                <a:solidFill>
                  <a:srgbClr val="00C2B2"/>
                </a:solidFill>
              </a:rPr>
              <a:t>Edge placement without load</a:t>
            </a:r>
          </a:p>
          <a:p>
            <a:pPr algn="l"/>
            <a:r>
              <a:rPr sz="1700">
                <a:solidFill>
                  <a:srgbClr val="FFFFFF"/>
                </a:solidFill>
              </a:rPr>
              <a:t>▸ The algorithm picks the nearest edge node</a:t>
            </a:r>
          </a:p>
          <a:p>
            <a:pPr algn="l"/>
            <a:r>
              <a:rPr sz="1700">
                <a:solidFill>
                  <a:srgbClr val="FFFFFF"/>
                </a:solidFill>
              </a:rPr>
              <a:t>▸ It uses only: propagation delay + packet size / bandwidth</a:t>
            </a:r>
          </a:p>
          <a:p>
            <a:pPr algn="l"/>
            <a:r>
              <a:rPr sz="1700">
                <a:solidFill>
                  <a:srgbClr val="FFFFFF"/>
                </a:solidFill>
              </a:rPr>
              <a:t>▸ It does not see that the node is nearly full</a:t>
            </a:r>
          </a:p>
          <a:p>
            <a:pPr algn="l"/>
            <a:r>
              <a:rPr sz="1700">
                <a:solidFill>
                  <a:srgbClr val="FFFFFF"/>
                </a:solidFill>
              </a:rPr>
              <a:t>▸ Players on a jammed edge node wait longer than on a distant cloud node</a:t>
            </a:r>
          </a:p>
        </p:txBody>
      </p:sp>
      <p:sp>
        <p:nvSpPr>
          <p:cNvPr id="9" name="TextBox 8"/>
          <p:cNvSpPr txBox="1"/>
          <p:nvPr/>
        </p:nvSpPr>
        <p:spPr>
          <a:xfrm>
            <a:off x="5577840" y="3291840"/>
            <a:ext cx="457200" cy="640080"/>
          </a:xfrm>
          <a:prstGeom prst="rect">
            <a:avLst/>
          </a:prstGeom>
          <a:noFill/>
        </p:spPr>
        <p:txBody>
          <a:bodyPr wrap="square">
            <a:spAutoFit/>
          </a:bodyPr>
          <a:lstStyle/>
          <a:p>
            <a:pPr algn="ctr"/>
            <a:r>
              <a:rPr sz="3600" b="1" i="0">
                <a:solidFill>
                  <a:srgbClr val="7B61FF"/>
                </a:solidFill>
              </a:rPr>
              <a:t>→</a:t>
            </a:r>
          </a:p>
        </p:txBody>
      </p:sp>
      <p:sp>
        <p:nvSpPr>
          <p:cNvPr id="10" name="TextBox 9"/>
          <p:cNvSpPr txBox="1"/>
          <p:nvPr/>
        </p:nvSpPr>
        <p:spPr>
          <a:xfrm>
            <a:off x="7342632" y="60000"/>
            <a:ext cx="4572000" cy="300000"/>
          </a:xfrm>
          <a:prstGeom prst="rect">
            <a:avLst/>
          </a:prstGeom>
          <a:noFill/>
        </p:spPr>
        <p:txBody>
          <a:bodyPr wrap="none">
            <a:spAutoFit/>
          </a:bodyPr>
          <a:lstStyle/>
          <a:p>
            <a:pPr algn="r"/>
            <a:r>
              <a:rPr sz="1100" b="1">
                <a:solidFill>
                  <a:srgbClr val="00C2B2"/>
                </a:solidFill>
              </a:rPr>
              <a:t>I ·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The Load-Blind Formula, and Why Simulators Hide the Error</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latency = propagation_delay + data_size / bandwidth</a:t>
            </a:r>
          </a:p>
        </p:txBody>
      </p:sp>
      <p:sp>
        <p:nvSpPr>
          <p:cNvPr id="5" name="Rectangle 4"/>
          <p:cNvSpPr/>
          <p:nvPr/>
        </p:nvSpPr>
        <p:spPr>
          <a:xfrm>
            <a:off x="457200" y="1417320"/>
            <a:ext cx="11247120" cy="822960"/>
          </a:xfrm>
          <a:prstGeom prst="rect">
            <a:avLst/>
          </a:prstGeom>
          <a:solidFill>
            <a:srgbClr val="040D14"/>
          </a:solidFill>
          <a:ln w="2286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27048"/>
            <a:ext cx="10881360" cy="603504"/>
          </a:xfrm>
          <a:prstGeom prst="rect">
            <a:avLst/>
          </a:prstGeom>
          <a:noFill/>
        </p:spPr>
        <p:txBody>
          <a:bodyPr wrap="none">
            <a:spAutoFit/>
          </a:bodyPr>
          <a:lstStyle/>
          <a:p>
            <a:r>
              <a:rPr sz="2200" b="1">
                <a:solidFill>
                  <a:srgbClr val="00C2B2"/>
                </a:solidFill>
                <a:latin typeface="Courier New"/>
              </a:rPr>
              <a:t>latency  =  propagation_delay  +  data_size / bandwidth</a:t>
            </a:r>
          </a:p>
        </p:txBody>
      </p:sp>
      <p:sp>
        <p:nvSpPr>
          <p:cNvPr id="7" name="Rectangle 6"/>
          <p:cNvSpPr/>
          <p:nvPr/>
        </p:nvSpPr>
        <p:spPr>
          <a:xfrm>
            <a:off x="274320" y="2423160"/>
            <a:ext cx="5486400" cy="35661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560320"/>
            <a:ext cx="5157216" cy="3291840"/>
          </a:xfrm>
          <a:prstGeom prst="rect">
            <a:avLst/>
          </a:prstGeom>
          <a:noFill/>
        </p:spPr>
        <p:txBody>
          <a:bodyPr wrap="square">
            <a:spAutoFit/>
          </a:bodyPr>
          <a:lstStyle/>
          <a:p>
            <a:pPr algn="l"/>
            <a:r>
              <a:rPr sz="1800" b="1">
                <a:solidFill>
                  <a:srgbClr val="00C2B2"/>
                </a:solidFill>
              </a:rPr>
              <a:t>What the formula captures</a:t>
            </a:r>
          </a:p>
          <a:p>
            <a:pPr algn="l"/>
            <a:r>
              <a:rPr sz="1700">
                <a:solidFill>
                  <a:srgbClr val="FFFFFF"/>
                </a:solidFill>
              </a:rPr>
              <a:t>▸ Propagation delay: signal travel time over the physical link</a:t>
            </a:r>
          </a:p>
          <a:p>
            <a:pPr algn="l"/>
            <a:r>
              <a:rPr sz="1700">
                <a:solidFill>
                  <a:srgbClr val="FFFFFF"/>
                </a:solidFill>
              </a:rPr>
              <a:t>▸ data_size / bandwidth: time to transmit the packet</a:t>
            </a:r>
          </a:p>
          <a:p>
            <a:pPr algn="l"/>
            <a:r>
              <a:rPr sz="1700">
                <a:solidFill>
                  <a:srgbClr val="FFFFFF"/>
                </a:solidFill>
              </a:rPr>
              <a:t>▸ Both terms are network-only: the server is assumed to answer instantly</a:t>
            </a:r>
          </a:p>
          <a:p>
            <a:pPr algn="l"/>
            <a:r>
              <a:rPr sz="1700">
                <a:solidFill>
                  <a:srgbClr val="FFFFFF"/>
                </a:solidFill>
              </a:rPr>
              <a:t>▸ Accurate when the server has spare capacity</a:t>
            </a:r>
          </a:p>
        </p:txBody>
      </p:sp>
      <p:sp>
        <p:nvSpPr>
          <p:cNvPr id="9" name="Rectangle 8"/>
          <p:cNvSpPr/>
          <p:nvPr/>
        </p:nvSpPr>
        <p:spPr>
          <a:xfrm>
            <a:off x="6126480" y="2423160"/>
            <a:ext cx="5760720" cy="35661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2560320"/>
            <a:ext cx="5431536" cy="3291840"/>
          </a:xfrm>
          <a:prstGeom prst="rect">
            <a:avLst/>
          </a:prstGeom>
          <a:noFill/>
        </p:spPr>
        <p:txBody>
          <a:bodyPr wrap="square">
            <a:spAutoFit/>
          </a:bodyPr>
          <a:lstStyle/>
          <a:p>
            <a:pPr algn="l"/>
            <a:r>
              <a:rPr sz="1800" b="1">
                <a:solidFill>
                  <a:srgbClr val="FFD600"/>
                </a:solidFill>
              </a:rPr>
              <a:t>What the formula misses</a:t>
            </a:r>
          </a:p>
          <a:p>
            <a:pPr algn="l"/>
            <a:r>
              <a:rPr sz="1700">
                <a:solidFill>
                  <a:srgbClr val="FFFFFF"/>
                </a:solidFill>
              </a:rPr>
              <a:t>▸ A busy server makes every action wait for its game tick; the formula has no term for that</a:t>
            </a:r>
          </a:p>
          <a:p>
            <a:pPr algn="l"/>
            <a:r>
              <a:rPr sz="1700">
                <a:solidFill>
                  <a:srgbClr val="FFFFFF"/>
                </a:solidFill>
              </a:rPr>
              <a:t>▸ Simulators that evaluate placement use the same formula</a:t>
            </a:r>
          </a:p>
          <a:p>
            <a:pPr algn="l"/>
            <a:r>
              <a:rPr sz="1700">
                <a:solidFill>
                  <a:srgbClr val="FFFFFF"/>
                </a:solidFill>
              </a:rPr>
              <a:t>▸ The model omits a term; the evaluator inherits the same gap</a:t>
            </a:r>
          </a:p>
          <a:p>
            <a:pPr algn="l"/>
            <a:r>
              <a:rPr sz="1700">
                <a:solidFill>
                  <a:srgbClr val="FFFFFF"/>
                </a:solidFill>
              </a:rPr>
              <a:t>▸ Error is invisible until measured on a real workload</a:t>
            </a:r>
          </a:p>
        </p:txBody>
      </p:sp>
      <p:sp>
        <p:nvSpPr>
          <p:cNvPr id="11" name="TextBox 10"/>
          <p:cNvSpPr txBox="1"/>
          <p:nvPr/>
        </p:nvSpPr>
        <p:spPr>
          <a:xfrm>
            <a:off x="7342632" y="60000"/>
            <a:ext cx="4572000" cy="300000"/>
          </a:xfrm>
          <a:prstGeom prst="rect">
            <a:avLst/>
          </a:prstGeom>
          <a:noFill/>
        </p:spPr>
        <p:txBody>
          <a:bodyPr wrap="none">
            <a:spAutoFit/>
          </a:bodyPr>
          <a:lstStyle/>
          <a:p>
            <a:pPr algn="r"/>
            <a:r>
              <a:rPr sz="1100" b="1">
                <a:solidFill>
                  <a:srgbClr val="00C2B2"/>
                </a:solidFill>
              </a:rPr>
              <a:t>I · 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Research Question</a:t>
            </a:r>
          </a:p>
        </p:txBody>
      </p:sp>
      <p:sp>
        <p:nvSpPr>
          <p:cNvPr id="4" name="Rectangle 3"/>
          <p:cNvSpPr/>
          <p:nvPr/>
        </p:nvSpPr>
        <p:spPr>
          <a:xfrm>
            <a:off x="457200" y="1371600"/>
            <a:ext cx="11247120" cy="2011680"/>
          </a:xfrm>
          <a:prstGeom prst="rect">
            <a:avLst/>
          </a:prstGeom>
          <a:solidFill>
            <a:srgbClr val="071828"/>
          </a:solidFill>
          <a:ln w="2540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10881360" cy="1737360"/>
          </a:xfrm>
          <a:prstGeom prst="rect">
            <a:avLst/>
          </a:prstGeom>
          <a:noFill/>
        </p:spPr>
        <p:txBody>
          <a:bodyPr wrap="square">
            <a:spAutoFit/>
          </a:bodyPr>
          <a:lstStyle/>
          <a:p>
            <a:pPr algn="ctr"/>
            <a:r>
              <a:rPr sz="2300" b="0" i="0">
                <a:solidFill>
                  <a:srgbClr val="FFFFFF"/>
                </a:solidFill>
              </a:rPr>
              <a:t>How large is the gap between what the analytical formula predicts and what a player actually experiences when an edge node is under load, and can a predictor trained on measured data close it?</a:t>
            </a:r>
          </a:p>
        </p:txBody>
      </p:sp>
      <p:sp>
        <p:nvSpPr>
          <p:cNvPr id="6" name="Rectangle 5"/>
          <p:cNvSpPr/>
          <p:nvPr/>
        </p:nvSpPr>
        <p:spPr>
          <a:xfrm>
            <a:off x="457200" y="3566160"/>
            <a:ext cx="11247120" cy="29260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3703320"/>
            <a:ext cx="10917936" cy="2651760"/>
          </a:xfrm>
          <a:prstGeom prst="rect">
            <a:avLst/>
          </a:prstGeom>
          <a:noFill/>
        </p:spPr>
        <p:txBody>
          <a:bodyPr wrap="square">
            <a:spAutoFit/>
          </a:bodyPr>
          <a:lstStyle/>
          <a:p>
            <a:pPr algn="l"/>
            <a:r>
              <a:rPr sz="2000" b="1">
                <a:solidFill>
                  <a:srgbClr val="00C2B2"/>
                </a:solidFill>
              </a:rPr>
              <a:t>Sub-goals</a:t>
            </a:r>
          </a:p>
          <a:p>
            <a:pPr algn="l"/>
            <a:r>
              <a:rPr sz="1900">
                <a:solidFill>
                  <a:srgbClr val="FFFFFF"/>
                </a:solidFill>
              </a:rPr>
              <a:t>▸ Measure latency at four layers simultaneously on the same loaded node</a:t>
            </a:r>
          </a:p>
          <a:p>
            <a:pPr algn="l"/>
            <a:r>
              <a:rPr sz="1900">
                <a:solidFill>
                  <a:srgbClr val="FFFFFF"/>
                </a:solidFill>
              </a:rPr>
              <a:t>▸ Quantify model error as a function of player count</a:t>
            </a:r>
          </a:p>
          <a:p>
            <a:pPr algn="l"/>
            <a:r>
              <a:rPr sz="1900">
                <a:solidFill>
                  <a:srgbClr val="FFFFFF"/>
                </a:solidFill>
              </a:rPr>
              <a:t>▸ Train a data-driven predictor to replace the analytical formula</a:t>
            </a:r>
          </a:p>
          <a:p>
            <a:pPr algn="l"/>
            <a:r>
              <a:rPr sz="1900">
                <a:solidFill>
                  <a:srgbClr val="FFFFFF"/>
                </a:solidFill>
              </a:rPr>
              <a:t>▸ Show that load-aware placement changes which node wins</a:t>
            </a:r>
          </a:p>
        </p:txBody>
      </p:sp>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 · INTRODUCTION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Testbed: Containerlab Edge-Cloud Topology</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A client, three edge nodes and a cloud node, all on one laptop</a:t>
            </a:r>
          </a:p>
        </p:txBody>
      </p:sp>
      <p:sp>
        <p:nvSpPr>
          <p:cNvPr id="6" name="Rectangle 5"/>
          <p:cNvSpPr/>
          <p:nvPr/>
        </p:nvSpPr>
        <p:spPr>
          <a:xfrm>
            <a:off x="7635240" y="1554480"/>
            <a:ext cx="1402080" cy="4754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71816" y="1591056"/>
            <a:ext cx="1328928" cy="402336"/>
          </a:xfrm>
          <a:prstGeom prst="rect">
            <a:avLst/>
          </a:prstGeom>
          <a:noFill/>
        </p:spPr>
        <p:txBody>
          <a:bodyPr wrap="square">
            <a:spAutoFit/>
          </a:bodyPr>
          <a:lstStyle/>
          <a:p>
            <a:pPr algn="ctr"/>
            <a:r>
              <a:rPr sz="1500" b="1" i="0">
                <a:solidFill>
                  <a:srgbClr val="0D1B2A"/>
                </a:solidFill>
              </a:rPr>
              <a:t>Node</a:t>
            </a:r>
          </a:p>
        </p:txBody>
      </p:sp>
      <p:sp>
        <p:nvSpPr>
          <p:cNvPr id="8" name="Rectangle 7"/>
          <p:cNvSpPr/>
          <p:nvPr/>
        </p:nvSpPr>
        <p:spPr>
          <a:xfrm>
            <a:off x="9037320" y="1554480"/>
            <a:ext cx="1402080" cy="4754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73896" y="1591056"/>
            <a:ext cx="1328928" cy="402336"/>
          </a:xfrm>
          <a:prstGeom prst="rect">
            <a:avLst/>
          </a:prstGeom>
          <a:noFill/>
        </p:spPr>
        <p:txBody>
          <a:bodyPr wrap="square">
            <a:spAutoFit/>
          </a:bodyPr>
          <a:lstStyle/>
          <a:p>
            <a:pPr algn="ctr"/>
            <a:r>
              <a:rPr sz="1500" b="1" i="0">
                <a:solidFill>
                  <a:srgbClr val="0D1B2A"/>
                </a:solidFill>
              </a:rPr>
              <a:t>CPU cap</a:t>
            </a:r>
          </a:p>
        </p:txBody>
      </p:sp>
      <p:sp>
        <p:nvSpPr>
          <p:cNvPr id="10" name="Rectangle 9"/>
          <p:cNvSpPr/>
          <p:nvPr/>
        </p:nvSpPr>
        <p:spPr>
          <a:xfrm>
            <a:off x="10439400" y="1554480"/>
            <a:ext cx="1402080" cy="4754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5976" y="1591056"/>
            <a:ext cx="1328928" cy="402336"/>
          </a:xfrm>
          <a:prstGeom prst="rect">
            <a:avLst/>
          </a:prstGeom>
          <a:noFill/>
        </p:spPr>
        <p:txBody>
          <a:bodyPr wrap="square">
            <a:spAutoFit/>
          </a:bodyPr>
          <a:lstStyle/>
          <a:p>
            <a:pPr algn="ctr"/>
            <a:r>
              <a:rPr sz="1500" b="1" i="0">
                <a:solidFill>
                  <a:srgbClr val="0D1B2A"/>
                </a:solidFill>
              </a:rPr>
              <a:t>RTT</a:t>
            </a:r>
          </a:p>
        </p:txBody>
      </p:sp>
      <p:sp>
        <p:nvSpPr>
          <p:cNvPr id="12" name="Rectangle 11"/>
          <p:cNvSpPr/>
          <p:nvPr/>
        </p:nvSpPr>
        <p:spPr>
          <a:xfrm>
            <a:off x="7635240" y="2029968"/>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2066544"/>
            <a:ext cx="1328928" cy="402336"/>
          </a:xfrm>
          <a:prstGeom prst="rect">
            <a:avLst/>
          </a:prstGeom>
          <a:noFill/>
        </p:spPr>
        <p:txBody>
          <a:bodyPr wrap="square">
            <a:spAutoFit/>
          </a:bodyPr>
          <a:lstStyle/>
          <a:p>
            <a:pPr algn="ctr"/>
            <a:r>
              <a:rPr sz="1400" b="0" i="0">
                <a:solidFill>
                  <a:srgbClr val="FFFFFF"/>
                </a:solidFill>
              </a:rPr>
              <a:t>edge1</a:t>
            </a:r>
          </a:p>
        </p:txBody>
      </p:sp>
      <p:sp>
        <p:nvSpPr>
          <p:cNvPr id="14" name="Rectangle 13"/>
          <p:cNvSpPr/>
          <p:nvPr/>
        </p:nvSpPr>
        <p:spPr>
          <a:xfrm>
            <a:off x="9037320" y="2029968"/>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3896" y="2066544"/>
            <a:ext cx="1328928" cy="402336"/>
          </a:xfrm>
          <a:prstGeom prst="rect">
            <a:avLst/>
          </a:prstGeom>
          <a:noFill/>
        </p:spPr>
        <p:txBody>
          <a:bodyPr wrap="square">
            <a:spAutoFit/>
          </a:bodyPr>
          <a:lstStyle/>
          <a:p>
            <a:pPr algn="ctr"/>
            <a:r>
              <a:rPr sz="1400" b="0" i="0">
                <a:solidFill>
                  <a:srgbClr val="FFFFFF"/>
                </a:solidFill>
              </a:rPr>
              <a:t>0.5 core</a:t>
            </a:r>
          </a:p>
        </p:txBody>
      </p:sp>
      <p:sp>
        <p:nvSpPr>
          <p:cNvPr id="16" name="Rectangle 15"/>
          <p:cNvSpPr/>
          <p:nvPr/>
        </p:nvSpPr>
        <p:spPr>
          <a:xfrm>
            <a:off x="10439400" y="2029968"/>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75976" y="2066544"/>
            <a:ext cx="1328928" cy="402336"/>
          </a:xfrm>
          <a:prstGeom prst="rect">
            <a:avLst/>
          </a:prstGeom>
          <a:noFill/>
        </p:spPr>
        <p:txBody>
          <a:bodyPr wrap="square">
            <a:spAutoFit/>
          </a:bodyPr>
          <a:lstStyle/>
          <a:p>
            <a:pPr algn="ctr"/>
            <a:r>
              <a:rPr sz="1400" b="0" i="0">
                <a:solidFill>
                  <a:srgbClr val="FFFFFF"/>
                </a:solidFill>
              </a:rPr>
              <a:t>5 ms</a:t>
            </a:r>
          </a:p>
        </p:txBody>
      </p:sp>
      <p:sp>
        <p:nvSpPr>
          <p:cNvPr id="18" name="Rectangle 17"/>
          <p:cNvSpPr/>
          <p:nvPr/>
        </p:nvSpPr>
        <p:spPr>
          <a:xfrm>
            <a:off x="7635240" y="2505456"/>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71816" y="2542032"/>
            <a:ext cx="1328928" cy="402336"/>
          </a:xfrm>
          <a:prstGeom prst="rect">
            <a:avLst/>
          </a:prstGeom>
          <a:noFill/>
        </p:spPr>
        <p:txBody>
          <a:bodyPr wrap="square">
            <a:spAutoFit/>
          </a:bodyPr>
          <a:lstStyle/>
          <a:p>
            <a:pPr algn="ctr"/>
            <a:r>
              <a:rPr sz="1400" b="0" i="0">
                <a:solidFill>
                  <a:srgbClr val="FFFFFF"/>
                </a:solidFill>
              </a:rPr>
              <a:t>edge2</a:t>
            </a:r>
          </a:p>
        </p:txBody>
      </p:sp>
      <p:sp>
        <p:nvSpPr>
          <p:cNvPr id="20" name="Rectangle 19"/>
          <p:cNvSpPr/>
          <p:nvPr/>
        </p:nvSpPr>
        <p:spPr>
          <a:xfrm>
            <a:off x="9037320" y="2505456"/>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3896" y="2542032"/>
            <a:ext cx="1328928" cy="402336"/>
          </a:xfrm>
          <a:prstGeom prst="rect">
            <a:avLst/>
          </a:prstGeom>
          <a:noFill/>
        </p:spPr>
        <p:txBody>
          <a:bodyPr wrap="square">
            <a:spAutoFit/>
          </a:bodyPr>
          <a:lstStyle/>
          <a:p>
            <a:pPr algn="ctr"/>
            <a:r>
              <a:rPr sz="1400" b="0" i="0">
                <a:solidFill>
                  <a:srgbClr val="FFFFFF"/>
                </a:solidFill>
              </a:rPr>
              <a:t>1 core</a:t>
            </a:r>
          </a:p>
        </p:txBody>
      </p:sp>
      <p:sp>
        <p:nvSpPr>
          <p:cNvPr id="22" name="Rectangle 21"/>
          <p:cNvSpPr/>
          <p:nvPr/>
        </p:nvSpPr>
        <p:spPr>
          <a:xfrm>
            <a:off x="10439400" y="2505456"/>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75976" y="2542032"/>
            <a:ext cx="1328928" cy="402336"/>
          </a:xfrm>
          <a:prstGeom prst="rect">
            <a:avLst/>
          </a:prstGeom>
          <a:noFill/>
        </p:spPr>
        <p:txBody>
          <a:bodyPr wrap="square">
            <a:spAutoFit/>
          </a:bodyPr>
          <a:lstStyle/>
          <a:p>
            <a:pPr algn="ctr"/>
            <a:r>
              <a:rPr sz="1400" b="0" i="0">
                <a:solidFill>
                  <a:srgbClr val="FFFFFF"/>
                </a:solidFill>
              </a:rPr>
              <a:t>15 ms</a:t>
            </a:r>
          </a:p>
        </p:txBody>
      </p:sp>
      <p:sp>
        <p:nvSpPr>
          <p:cNvPr id="24" name="Rectangle 23"/>
          <p:cNvSpPr/>
          <p:nvPr/>
        </p:nvSpPr>
        <p:spPr>
          <a:xfrm>
            <a:off x="7635240" y="2980944"/>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71816" y="3017520"/>
            <a:ext cx="1328928" cy="402336"/>
          </a:xfrm>
          <a:prstGeom prst="rect">
            <a:avLst/>
          </a:prstGeom>
          <a:noFill/>
        </p:spPr>
        <p:txBody>
          <a:bodyPr wrap="square">
            <a:spAutoFit/>
          </a:bodyPr>
          <a:lstStyle/>
          <a:p>
            <a:pPr algn="ctr"/>
            <a:r>
              <a:rPr sz="1400" b="0" i="0">
                <a:solidFill>
                  <a:srgbClr val="FFFFFF"/>
                </a:solidFill>
              </a:rPr>
              <a:t>edge3</a:t>
            </a:r>
          </a:p>
        </p:txBody>
      </p:sp>
      <p:sp>
        <p:nvSpPr>
          <p:cNvPr id="26" name="Rectangle 25"/>
          <p:cNvSpPr/>
          <p:nvPr/>
        </p:nvSpPr>
        <p:spPr>
          <a:xfrm>
            <a:off x="9037320" y="2980944"/>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73896" y="3017520"/>
            <a:ext cx="1328928" cy="402336"/>
          </a:xfrm>
          <a:prstGeom prst="rect">
            <a:avLst/>
          </a:prstGeom>
          <a:noFill/>
        </p:spPr>
        <p:txBody>
          <a:bodyPr wrap="square">
            <a:spAutoFit/>
          </a:bodyPr>
          <a:lstStyle/>
          <a:p>
            <a:pPr algn="ctr"/>
            <a:r>
              <a:rPr sz="1400" b="0" i="0">
                <a:solidFill>
                  <a:srgbClr val="FFFFFF"/>
                </a:solidFill>
              </a:rPr>
              <a:t>2 cores</a:t>
            </a:r>
          </a:p>
        </p:txBody>
      </p:sp>
      <p:sp>
        <p:nvSpPr>
          <p:cNvPr id="28" name="Rectangle 27"/>
          <p:cNvSpPr/>
          <p:nvPr/>
        </p:nvSpPr>
        <p:spPr>
          <a:xfrm>
            <a:off x="10439400" y="2980944"/>
            <a:ext cx="1402080" cy="4754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475976" y="3017520"/>
            <a:ext cx="1328928" cy="402336"/>
          </a:xfrm>
          <a:prstGeom prst="rect">
            <a:avLst/>
          </a:prstGeom>
          <a:noFill/>
        </p:spPr>
        <p:txBody>
          <a:bodyPr wrap="square">
            <a:spAutoFit/>
          </a:bodyPr>
          <a:lstStyle/>
          <a:p>
            <a:pPr algn="ctr"/>
            <a:r>
              <a:rPr sz="1400" b="0" i="0">
                <a:solidFill>
                  <a:srgbClr val="FFFFFF"/>
                </a:solidFill>
              </a:rPr>
              <a:t>30 ms</a:t>
            </a:r>
          </a:p>
        </p:txBody>
      </p:sp>
      <p:sp>
        <p:nvSpPr>
          <p:cNvPr id="30" name="Rectangle 29"/>
          <p:cNvSpPr/>
          <p:nvPr/>
        </p:nvSpPr>
        <p:spPr>
          <a:xfrm>
            <a:off x="7635240" y="3456432"/>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71816" y="3493008"/>
            <a:ext cx="1328928" cy="402336"/>
          </a:xfrm>
          <a:prstGeom prst="rect">
            <a:avLst/>
          </a:prstGeom>
          <a:noFill/>
        </p:spPr>
        <p:txBody>
          <a:bodyPr wrap="square">
            <a:spAutoFit/>
          </a:bodyPr>
          <a:lstStyle/>
          <a:p>
            <a:pPr algn="ctr"/>
            <a:r>
              <a:rPr sz="1400" b="0" i="0">
                <a:solidFill>
                  <a:srgbClr val="FFFFFF"/>
                </a:solidFill>
              </a:rPr>
              <a:t>cloud</a:t>
            </a:r>
          </a:p>
        </p:txBody>
      </p:sp>
      <p:sp>
        <p:nvSpPr>
          <p:cNvPr id="32" name="Rectangle 31"/>
          <p:cNvSpPr/>
          <p:nvPr/>
        </p:nvSpPr>
        <p:spPr>
          <a:xfrm>
            <a:off x="9037320" y="3456432"/>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73896" y="3493008"/>
            <a:ext cx="1328928" cy="402336"/>
          </a:xfrm>
          <a:prstGeom prst="rect">
            <a:avLst/>
          </a:prstGeom>
          <a:noFill/>
        </p:spPr>
        <p:txBody>
          <a:bodyPr wrap="square">
            <a:spAutoFit/>
          </a:bodyPr>
          <a:lstStyle/>
          <a:p>
            <a:pPr algn="ctr"/>
            <a:r>
              <a:rPr sz="1400" b="0" i="0">
                <a:solidFill>
                  <a:srgbClr val="FFFFFF"/>
                </a:solidFill>
              </a:rPr>
              <a:t>4 cores</a:t>
            </a:r>
          </a:p>
        </p:txBody>
      </p:sp>
      <p:sp>
        <p:nvSpPr>
          <p:cNvPr id="34" name="Rectangle 33"/>
          <p:cNvSpPr/>
          <p:nvPr/>
        </p:nvSpPr>
        <p:spPr>
          <a:xfrm>
            <a:off x="10439400" y="3456432"/>
            <a:ext cx="1402080" cy="4754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75976" y="3493008"/>
            <a:ext cx="1328928" cy="402336"/>
          </a:xfrm>
          <a:prstGeom prst="rect">
            <a:avLst/>
          </a:prstGeom>
          <a:noFill/>
        </p:spPr>
        <p:txBody>
          <a:bodyPr wrap="square">
            <a:spAutoFit/>
          </a:bodyPr>
          <a:lstStyle/>
          <a:p>
            <a:pPr algn="ctr"/>
            <a:r>
              <a:rPr sz="1400" b="0" i="0">
                <a:solidFill>
                  <a:srgbClr val="FFFFFF"/>
                </a:solidFill>
              </a:rPr>
              <a:t>40 ms</a:t>
            </a:r>
          </a:p>
        </p:txBody>
      </p:sp>
      <p:sp>
        <p:nvSpPr>
          <p:cNvPr id="36" name="Rectangle 35"/>
          <p:cNvSpPr/>
          <p:nvPr/>
        </p:nvSpPr>
        <p:spPr>
          <a:xfrm>
            <a:off x="7635240" y="4114800"/>
            <a:ext cx="4206240" cy="237744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99832" y="4251960"/>
            <a:ext cx="3877056" cy="2103120"/>
          </a:xfrm>
          <a:prstGeom prst="rect">
            <a:avLst/>
          </a:prstGeom>
          <a:noFill/>
        </p:spPr>
        <p:txBody>
          <a:bodyPr wrap="square">
            <a:spAutoFit/>
          </a:bodyPr>
          <a:lstStyle/>
          <a:p>
            <a:pPr algn="l"/>
            <a:r>
              <a:rPr sz="1500">
                <a:solidFill>
                  <a:srgbClr val="FFFFFF"/>
                </a:solidFill>
              </a:rPr>
              <a:t>• netem adds each link's delay; the RTT is measured with ping</a:t>
            </a:r>
          </a:p>
          <a:p>
            <a:pPr algn="l"/>
            <a:r>
              <a:rPr sz="1500">
                <a:solidFill>
                  <a:srgbClr val="FFFFFF"/>
                </a:solidFill>
              </a:rPr>
              <a:t>• Minecraft Paper server on each node, CPU-capped via cgroups</a:t>
            </a:r>
          </a:p>
          <a:p>
            <a:pPr algn="l"/>
            <a:r>
              <a:rPr sz="1500">
                <a:solidFill>
                  <a:srgbClr val="FFFFFF"/>
                </a:solidFill>
              </a:rPr>
              <a:t>• mineflayer bots speak the real game protocol</a:t>
            </a:r>
          </a:p>
          <a:p>
            <a:pPr algn="l"/>
            <a:r>
              <a:rPr sz="1500">
                <a:solidFill>
                  <a:srgbClr val="FFFFFF"/>
                </a:solidFill>
              </a:rPr>
              <a:t>• All four probes run in parallel: same load, same moment</a:t>
            </a:r>
          </a:p>
        </p:txBody>
      </p:sp>
      <p:pic>
        <p:nvPicPr>
          <p:cNvPr id="38" name="Picture 37" descr="topology_30.png"/>
          <p:cNvPicPr>
            <a:picLocks noChangeAspect="1"/>
          </p:cNvPicPr>
          <p:nvPr/>
        </p:nvPicPr>
        <p:blipFill>
          <a:blip r:embed="rId4"/>
          <a:stretch>
            <a:fillRect/>
          </a:stretch>
        </p:blipFill>
        <p:spPr>
          <a:xfrm>
            <a:off x="274320" y="1371600"/>
            <a:ext cx="7132320" cy="5212080"/>
          </a:xfrm>
          <a:prstGeom prst="rect">
            <a:avLst/>
          </a:prstGeom>
        </p:spPr>
      </p:pic>
      <p:sp>
        <p:nvSpPr>
          <p:cNvPr id="39" name="TextBox 38"/>
          <p:cNvSpPr txBox="1"/>
          <p:nvPr/>
        </p:nvSpPr>
        <p:spPr>
          <a:xfrm>
            <a:off x="7342632" y="60000"/>
            <a:ext cx="4572000" cy="300000"/>
          </a:xfrm>
          <a:prstGeom prst="rect">
            <a:avLst/>
          </a:prstGeom>
          <a:noFill/>
        </p:spPr>
        <p:txBody>
          <a:bodyPr wrap="none">
            <a:spAutoFit/>
          </a:bodyPr>
          <a:lstStyle/>
          <a:p>
            <a:pPr algn="r"/>
            <a:r>
              <a:rPr sz="1100" b="1">
                <a:solidFill>
                  <a:srgbClr val="00C2B2"/>
                </a:solidFill>
              </a:rPr>
              <a:t>II · METHODOLOGY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Four-Rung Measurement Ladder</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Where the delay comes from: network, OS, server process or game thread</a:t>
            </a:r>
          </a:p>
        </p:txBody>
      </p:sp>
      <p:sp>
        <p:nvSpPr>
          <p:cNvPr id="5" name="Rectangle 4"/>
          <p:cNvSpPr/>
          <p:nvPr/>
        </p:nvSpPr>
        <p:spPr>
          <a:xfrm>
            <a:off x="274320" y="1417320"/>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572768"/>
            <a:ext cx="475488" cy="731520"/>
          </a:xfrm>
          <a:prstGeom prst="rect">
            <a:avLst/>
          </a:prstGeom>
          <a:noFill/>
        </p:spPr>
        <p:txBody>
          <a:bodyPr wrap="square">
            <a:spAutoFit/>
          </a:bodyPr>
          <a:lstStyle/>
          <a:p>
            <a:pPr algn="ctr"/>
            <a:r>
              <a:rPr sz="2800" b="1" i="0">
                <a:solidFill>
                  <a:srgbClr val="0D1B2A"/>
                </a:solidFill>
              </a:rPr>
              <a:t>1</a:t>
            </a:r>
          </a:p>
        </p:txBody>
      </p:sp>
      <p:sp>
        <p:nvSpPr>
          <p:cNvPr id="7" name="TextBox 6"/>
          <p:cNvSpPr txBox="1"/>
          <p:nvPr/>
        </p:nvSpPr>
        <p:spPr>
          <a:xfrm>
            <a:off x="914400" y="1453896"/>
            <a:ext cx="3749039" cy="530352"/>
          </a:xfrm>
          <a:prstGeom prst="rect">
            <a:avLst/>
          </a:prstGeom>
          <a:noFill/>
        </p:spPr>
        <p:txBody>
          <a:bodyPr wrap="square">
            <a:spAutoFit/>
          </a:bodyPr>
          <a:lstStyle/>
          <a:p>
            <a:pPr algn="l"/>
            <a:r>
              <a:rPr sz="1800" b="1" i="0">
                <a:solidFill>
                  <a:srgbClr val="FFFFFF"/>
                </a:solidFill>
              </a:rPr>
              <a:t>1  ICMP ping</a:t>
            </a:r>
          </a:p>
        </p:txBody>
      </p:sp>
      <p:sp>
        <p:nvSpPr>
          <p:cNvPr id="8" name="TextBox 7"/>
          <p:cNvSpPr txBox="1"/>
          <p:nvPr/>
        </p:nvSpPr>
        <p:spPr>
          <a:xfrm>
            <a:off x="914400" y="1965960"/>
            <a:ext cx="3749039" cy="384048"/>
          </a:xfrm>
          <a:prstGeom prst="rect">
            <a:avLst/>
          </a:prstGeom>
          <a:noFill/>
        </p:spPr>
        <p:txBody>
          <a:bodyPr wrap="square">
            <a:spAutoFit/>
          </a:bodyPr>
          <a:lstStyle/>
          <a:p>
            <a:pPr algn="l"/>
            <a:r>
              <a:rPr sz="1300" b="0" i="1">
                <a:solidFill>
                  <a:srgbClr val="00C2B2"/>
                </a:solidFill>
              </a:rPr>
              <a:t>Network only</a:t>
            </a:r>
          </a:p>
        </p:txBody>
      </p:sp>
      <p:sp>
        <p:nvSpPr>
          <p:cNvPr id="9" name="Rectangle 8"/>
          <p:cNvSpPr/>
          <p:nvPr/>
        </p:nvSpPr>
        <p:spPr>
          <a:xfrm>
            <a:off x="4937760" y="1417320"/>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527048"/>
            <a:ext cx="6583680" cy="896112"/>
          </a:xfrm>
          <a:prstGeom prst="rect">
            <a:avLst/>
          </a:prstGeom>
          <a:noFill/>
        </p:spPr>
        <p:txBody>
          <a:bodyPr wrap="square">
            <a:spAutoFit/>
          </a:bodyPr>
          <a:lstStyle/>
          <a:p>
            <a:pPr algn="l"/>
            <a:r>
              <a:rPr sz="1400" b="0" i="0">
                <a:solidFill>
                  <a:srgbClr val="CCE5FF"/>
                </a:solidFill>
              </a:rPr>
              <a:t>What the analytical formula predicts.
If ICMP stays flat, the network is not the cause.</a:t>
            </a:r>
          </a:p>
        </p:txBody>
      </p:sp>
      <p:sp>
        <p:nvSpPr>
          <p:cNvPr id="11" name="Rectangle 10"/>
          <p:cNvSpPr/>
          <p:nvPr/>
        </p:nvSpPr>
        <p:spPr>
          <a:xfrm>
            <a:off x="274320" y="2679192"/>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834640"/>
            <a:ext cx="475488" cy="731520"/>
          </a:xfrm>
          <a:prstGeom prst="rect">
            <a:avLst/>
          </a:prstGeom>
          <a:noFill/>
        </p:spPr>
        <p:txBody>
          <a:bodyPr wrap="square">
            <a:spAutoFit/>
          </a:bodyPr>
          <a:lstStyle/>
          <a:p>
            <a:pPr algn="ctr"/>
            <a:r>
              <a:rPr sz="2800" b="1" i="0">
                <a:solidFill>
                  <a:srgbClr val="0D1B2A"/>
                </a:solidFill>
              </a:rPr>
              <a:t>2</a:t>
            </a:r>
          </a:p>
        </p:txBody>
      </p:sp>
      <p:sp>
        <p:nvSpPr>
          <p:cNvPr id="13" name="TextBox 12"/>
          <p:cNvSpPr txBox="1"/>
          <p:nvPr/>
        </p:nvSpPr>
        <p:spPr>
          <a:xfrm>
            <a:off x="914400" y="2715768"/>
            <a:ext cx="3749039" cy="530352"/>
          </a:xfrm>
          <a:prstGeom prst="rect">
            <a:avLst/>
          </a:prstGeom>
          <a:noFill/>
        </p:spPr>
        <p:txBody>
          <a:bodyPr wrap="square">
            <a:spAutoFit/>
          </a:bodyPr>
          <a:lstStyle/>
          <a:p>
            <a:pPr algn="l"/>
            <a:r>
              <a:rPr sz="1800" b="1" i="0">
                <a:solidFill>
                  <a:srgbClr val="FFFFFF"/>
                </a:solidFill>
              </a:rPr>
              <a:t>2  TCP handshake</a:t>
            </a:r>
          </a:p>
        </p:txBody>
      </p:sp>
      <p:sp>
        <p:nvSpPr>
          <p:cNvPr id="14" name="TextBox 13"/>
          <p:cNvSpPr txBox="1"/>
          <p:nvPr/>
        </p:nvSpPr>
        <p:spPr>
          <a:xfrm>
            <a:off x="914400" y="3227832"/>
            <a:ext cx="3749039" cy="384048"/>
          </a:xfrm>
          <a:prstGeom prst="rect">
            <a:avLst/>
          </a:prstGeom>
          <a:noFill/>
        </p:spPr>
        <p:txBody>
          <a:bodyPr wrap="square">
            <a:spAutoFit/>
          </a:bodyPr>
          <a:lstStyle/>
          <a:p>
            <a:pPr algn="l"/>
            <a:r>
              <a:rPr sz="1300" b="0" i="1">
                <a:solidFill>
                  <a:srgbClr val="00C2B2"/>
                </a:solidFill>
              </a:rPr>
              <a:t>Network + server host's TCP accept path</a:t>
            </a:r>
          </a:p>
        </p:txBody>
      </p:sp>
      <p:sp>
        <p:nvSpPr>
          <p:cNvPr id="15" name="Rectangle 14"/>
          <p:cNvSpPr/>
          <p:nvPr/>
        </p:nvSpPr>
        <p:spPr>
          <a:xfrm>
            <a:off x="4937760" y="2679192"/>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2788920"/>
            <a:ext cx="6583680" cy="896112"/>
          </a:xfrm>
          <a:prstGeom prst="rect">
            <a:avLst/>
          </a:prstGeom>
          <a:noFill/>
        </p:spPr>
        <p:txBody>
          <a:bodyPr wrap="square">
            <a:spAutoFit/>
          </a:bodyPr>
          <a:lstStyle/>
          <a:p>
            <a:pPr algn="l"/>
            <a:r>
              <a:rPr sz="1400" b="0" i="0">
                <a:solidFill>
                  <a:srgbClr val="CCE5FF"/>
                </a:solidFill>
              </a:rPr>
              <a:t>Separates link delay from OS accept queue.
Expected to stay nearly flat under load.</a:t>
            </a:r>
          </a:p>
        </p:txBody>
      </p:sp>
      <p:sp>
        <p:nvSpPr>
          <p:cNvPr id="17" name="Rectangle 16"/>
          <p:cNvSpPr/>
          <p:nvPr/>
        </p:nvSpPr>
        <p:spPr>
          <a:xfrm>
            <a:off x="274320" y="3941064"/>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4096512"/>
            <a:ext cx="475488" cy="731520"/>
          </a:xfrm>
          <a:prstGeom prst="rect">
            <a:avLst/>
          </a:prstGeom>
          <a:noFill/>
        </p:spPr>
        <p:txBody>
          <a:bodyPr wrap="square">
            <a:spAutoFit/>
          </a:bodyPr>
          <a:lstStyle/>
          <a:p>
            <a:pPr algn="ctr"/>
            <a:r>
              <a:rPr sz="2800" b="1" i="0">
                <a:solidFill>
                  <a:srgbClr val="0D1B2A"/>
                </a:solidFill>
              </a:rPr>
              <a:t>3</a:t>
            </a:r>
          </a:p>
        </p:txBody>
      </p:sp>
      <p:sp>
        <p:nvSpPr>
          <p:cNvPr id="19" name="TextBox 18"/>
          <p:cNvSpPr txBox="1"/>
          <p:nvPr/>
        </p:nvSpPr>
        <p:spPr>
          <a:xfrm>
            <a:off x="914400" y="3977640"/>
            <a:ext cx="3749039" cy="530352"/>
          </a:xfrm>
          <a:prstGeom prst="rect">
            <a:avLst/>
          </a:prstGeom>
          <a:noFill/>
        </p:spPr>
        <p:txBody>
          <a:bodyPr wrap="square">
            <a:spAutoFit/>
          </a:bodyPr>
          <a:lstStyle/>
          <a:p>
            <a:pPr algn="l"/>
            <a:r>
              <a:rPr sz="1800" b="1" i="0">
                <a:solidFill>
                  <a:srgbClr val="FFFFFF"/>
                </a:solidFill>
              </a:rPr>
              <a:t>3  Status ping</a:t>
            </a:r>
          </a:p>
        </p:txBody>
      </p:sp>
      <p:sp>
        <p:nvSpPr>
          <p:cNvPr id="20" name="TextBox 19"/>
          <p:cNvSpPr txBox="1"/>
          <p:nvPr/>
        </p:nvSpPr>
        <p:spPr>
          <a:xfrm>
            <a:off x="914400" y="4489704"/>
            <a:ext cx="3749039" cy="384048"/>
          </a:xfrm>
          <a:prstGeom prst="rect">
            <a:avLst/>
          </a:prstGeom>
          <a:noFill/>
        </p:spPr>
        <p:txBody>
          <a:bodyPr wrap="square">
            <a:spAutoFit/>
          </a:bodyPr>
          <a:lstStyle/>
          <a:p>
            <a:pPr algn="l"/>
            <a:r>
              <a:rPr sz="1300" b="0" i="1">
                <a:solidFill>
                  <a:srgbClr val="00C2B2"/>
                </a:solidFill>
              </a:rPr>
              <a:t>Network + server process answering a request</a:t>
            </a:r>
          </a:p>
        </p:txBody>
      </p:sp>
      <p:sp>
        <p:nvSpPr>
          <p:cNvPr id="21" name="Rectangle 20"/>
          <p:cNvSpPr/>
          <p:nvPr/>
        </p:nvSpPr>
        <p:spPr>
          <a:xfrm>
            <a:off x="4937760" y="3941064"/>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4050792"/>
            <a:ext cx="6583680" cy="896112"/>
          </a:xfrm>
          <a:prstGeom prst="rect">
            <a:avLst/>
          </a:prstGeom>
          <a:noFill/>
        </p:spPr>
        <p:txBody>
          <a:bodyPr wrap="square">
            <a:spAutoFit/>
          </a:bodyPr>
          <a:lstStyle/>
          <a:p>
            <a:pPr algn="l"/>
            <a:r>
              <a:rPr sz="1400" b="0" i="0">
                <a:solidFill>
                  <a:srgbClr val="CCE5FF"/>
                </a:solidFill>
              </a:rPr>
              <a:t>Minecraft server-list ping.
Shows whether server-process load bleeds into responses.</a:t>
            </a:r>
          </a:p>
        </p:txBody>
      </p:sp>
      <p:sp>
        <p:nvSpPr>
          <p:cNvPr id="23" name="Rectangle 22"/>
          <p:cNvSpPr/>
          <p:nvPr/>
        </p:nvSpPr>
        <p:spPr>
          <a:xfrm>
            <a:off x="274320" y="5202936"/>
            <a:ext cx="475488" cy="100584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5358384"/>
            <a:ext cx="475488" cy="731520"/>
          </a:xfrm>
          <a:prstGeom prst="rect">
            <a:avLst/>
          </a:prstGeom>
          <a:noFill/>
        </p:spPr>
        <p:txBody>
          <a:bodyPr wrap="square">
            <a:spAutoFit/>
          </a:bodyPr>
          <a:lstStyle/>
          <a:p>
            <a:pPr algn="ctr"/>
            <a:r>
              <a:rPr sz="2800" b="1" i="0">
                <a:solidFill>
                  <a:srgbClr val="0D1B2A"/>
                </a:solidFill>
              </a:rPr>
              <a:t>4</a:t>
            </a:r>
          </a:p>
        </p:txBody>
      </p:sp>
      <p:sp>
        <p:nvSpPr>
          <p:cNvPr id="25" name="TextBox 24"/>
          <p:cNvSpPr txBox="1"/>
          <p:nvPr/>
        </p:nvSpPr>
        <p:spPr>
          <a:xfrm>
            <a:off x="914400" y="5239512"/>
            <a:ext cx="3749039" cy="530352"/>
          </a:xfrm>
          <a:prstGeom prst="rect">
            <a:avLst/>
          </a:prstGeom>
          <a:noFill/>
        </p:spPr>
        <p:txBody>
          <a:bodyPr wrap="square">
            <a:spAutoFit/>
          </a:bodyPr>
          <a:lstStyle/>
          <a:p>
            <a:pPr algn="l"/>
            <a:r>
              <a:rPr sz="1800" b="1" i="0">
                <a:solidFill>
                  <a:srgbClr val="FFFFFF"/>
                </a:solidFill>
              </a:rPr>
              <a:t>4  In-game RTT</a:t>
            </a:r>
          </a:p>
        </p:txBody>
      </p:sp>
      <p:sp>
        <p:nvSpPr>
          <p:cNvPr id="26" name="TextBox 25"/>
          <p:cNvSpPr txBox="1"/>
          <p:nvPr/>
        </p:nvSpPr>
        <p:spPr>
          <a:xfrm>
            <a:off x="914400" y="5751576"/>
            <a:ext cx="3749039" cy="384048"/>
          </a:xfrm>
          <a:prstGeom prst="rect">
            <a:avLst/>
          </a:prstGeom>
          <a:noFill/>
        </p:spPr>
        <p:txBody>
          <a:bodyPr wrap="square">
            <a:spAutoFit/>
          </a:bodyPr>
          <a:lstStyle/>
          <a:p>
            <a:pPr algn="l"/>
            <a:r>
              <a:rPr sz="1300" b="0" i="1">
                <a:solidFill>
                  <a:srgbClr val="00C2B2"/>
                </a:solidFill>
              </a:rPr>
              <a:t>Network + server's main game thread (tick loop)</a:t>
            </a:r>
          </a:p>
        </p:txBody>
      </p:sp>
      <p:sp>
        <p:nvSpPr>
          <p:cNvPr id="27" name="Rectangle 26"/>
          <p:cNvSpPr/>
          <p:nvPr/>
        </p:nvSpPr>
        <p:spPr>
          <a:xfrm>
            <a:off x="4937760" y="5202936"/>
            <a:ext cx="6949440" cy="1051560"/>
          </a:xfrm>
          <a:prstGeom prst="rect">
            <a:avLst/>
          </a:prstGeom>
          <a:solidFill>
            <a:srgbClr val="102238"/>
          </a:solidFill>
          <a:ln w="635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5312664"/>
            <a:ext cx="6583680" cy="896112"/>
          </a:xfrm>
          <a:prstGeom prst="rect">
            <a:avLst/>
          </a:prstGeom>
          <a:noFill/>
        </p:spPr>
        <p:txBody>
          <a:bodyPr wrap="square">
            <a:spAutoFit/>
          </a:bodyPr>
          <a:lstStyle/>
          <a:p>
            <a:pPr algn="l"/>
            <a:r>
              <a:rPr sz="1400" b="0" i="0">
                <a:solidFill>
                  <a:srgbClr val="CCE5FF"/>
                </a:solidFill>
              </a:rPr>
              <a:t>Chat echo via mineflayer.
Every ms above probe 1 is delay the formula cannot see.</a:t>
            </a:r>
          </a:p>
        </p:txBody>
      </p:sp>
      <p:sp>
        <p:nvSpPr>
          <p:cNvPr id="29" name="TextBox 28"/>
          <p:cNvSpPr txBox="1"/>
          <p:nvPr/>
        </p:nvSpPr>
        <p:spPr>
          <a:xfrm>
            <a:off x="7342632" y="60000"/>
            <a:ext cx="4572000" cy="300000"/>
          </a:xfrm>
          <a:prstGeom prst="rect">
            <a:avLst/>
          </a:prstGeom>
          <a:noFill/>
        </p:spPr>
        <p:txBody>
          <a:bodyPr wrap="none">
            <a:spAutoFit/>
          </a:bodyPr>
          <a:lstStyle/>
          <a:p>
            <a:pPr algn="r"/>
            <a:r>
              <a:rPr sz="1100" b="1">
                <a:solidFill>
                  <a:srgbClr val="00C2B2"/>
                </a:solidFill>
              </a:rPr>
              <a:t>II · METHODOLOGY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Node Capacity: Flat, Then a Cliff</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p95 in-game RTT and tick time (MSPT), mean of two replicates. Tick budget is 50 ms.</a:t>
            </a:r>
          </a:p>
        </p:txBody>
      </p:sp>
      <p:sp>
        <p:nvSpPr>
          <p:cNvPr id="5" name="Rectangle 4"/>
          <p:cNvSpPr/>
          <p:nvPr/>
        </p:nvSpPr>
        <p:spPr>
          <a:xfrm>
            <a:off x="274320"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0896" y="1453896"/>
            <a:ext cx="1261872" cy="651836"/>
          </a:xfrm>
          <a:prstGeom prst="rect">
            <a:avLst/>
          </a:prstGeom>
          <a:noFill/>
        </p:spPr>
        <p:txBody>
          <a:bodyPr wrap="square">
            <a:spAutoFit/>
          </a:bodyPr>
          <a:lstStyle/>
          <a:p>
            <a:pPr algn="ctr"/>
            <a:r>
              <a:rPr sz="1400" b="1" i="0">
                <a:solidFill>
                  <a:srgbClr val="0D1B2A"/>
                </a:solidFill>
              </a:rPr>
              <a:t>Players</a:t>
            </a:r>
          </a:p>
        </p:txBody>
      </p:sp>
      <p:sp>
        <p:nvSpPr>
          <p:cNvPr id="7" name="Rectangle 6"/>
          <p:cNvSpPr/>
          <p:nvPr/>
        </p:nvSpPr>
        <p:spPr>
          <a:xfrm>
            <a:off x="1609344"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1453896"/>
            <a:ext cx="1261872" cy="651836"/>
          </a:xfrm>
          <a:prstGeom prst="rect">
            <a:avLst/>
          </a:prstGeom>
          <a:noFill/>
        </p:spPr>
        <p:txBody>
          <a:bodyPr wrap="square">
            <a:spAutoFit/>
          </a:bodyPr>
          <a:lstStyle/>
          <a:p>
            <a:pPr algn="ctr"/>
            <a:r>
              <a:rPr sz="1400" b="1" i="0">
                <a:solidFill>
                  <a:srgbClr val="0D1B2A"/>
                </a:solidFill>
              </a:rPr>
              <a:t>edge1 p95</a:t>
            </a:r>
          </a:p>
        </p:txBody>
      </p:sp>
      <p:sp>
        <p:nvSpPr>
          <p:cNvPr id="9" name="Rectangle 8"/>
          <p:cNvSpPr/>
          <p:nvPr/>
        </p:nvSpPr>
        <p:spPr>
          <a:xfrm>
            <a:off x="2944368"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0944" y="1453896"/>
            <a:ext cx="1261872" cy="651836"/>
          </a:xfrm>
          <a:prstGeom prst="rect">
            <a:avLst/>
          </a:prstGeom>
          <a:noFill/>
        </p:spPr>
        <p:txBody>
          <a:bodyPr wrap="square">
            <a:spAutoFit/>
          </a:bodyPr>
          <a:lstStyle/>
          <a:p>
            <a:pPr algn="ctr"/>
            <a:r>
              <a:rPr sz="1400" b="1" i="0">
                <a:solidFill>
                  <a:srgbClr val="0D1B2A"/>
                </a:solidFill>
              </a:rPr>
              <a:t>edge1 MSPT</a:t>
            </a:r>
          </a:p>
        </p:txBody>
      </p:sp>
      <p:sp>
        <p:nvSpPr>
          <p:cNvPr id="11" name="Rectangle 10"/>
          <p:cNvSpPr/>
          <p:nvPr/>
        </p:nvSpPr>
        <p:spPr>
          <a:xfrm>
            <a:off x="4279392"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5968" y="1453896"/>
            <a:ext cx="1261872" cy="651836"/>
          </a:xfrm>
          <a:prstGeom prst="rect">
            <a:avLst/>
          </a:prstGeom>
          <a:noFill/>
        </p:spPr>
        <p:txBody>
          <a:bodyPr wrap="square">
            <a:spAutoFit/>
          </a:bodyPr>
          <a:lstStyle/>
          <a:p>
            <a:pPr algn="ctr"/>
            <a:r>
              <a:rPr sz="1400" b="1" i="0">
                <a:solidFill>
                  <a:srgbClr val="0D1B2A"/>
                </a:solidFill>
              </a:rPr>
              <a:t>edge2 p95</a:t>
            </a:r>
          </a:p>
        </p:txBody>
      </p:sp>
      <p:sp>
        <p:nvSpPr>
          <p:cNvPr id="13" name="Rectangle 12"/>
          <p:cNvSpPr/>
          <p:nvPr/>
        </p:nvSpPr>
        <p:spPr>
          <a:xfrm>
            <a:off x="5614416" y="1417320"/>
            <a:ext cx="1335024" cy="724988"/>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50992" y="1453896"/>
            <a:ext cx="1261872" cy="651836"/>
          </a:xfrm>
          <a:prstGeom prst="rect">
            <a:avLst/>
          </a:prstGeom>
          <a:noFill/>
        </p:spPr>
        <p:txBody>
          <a:bodyPr wrap="square">
            <a:spAutoFit/>
          </a:bodyPr>
          <a:lstStyle/>
          <a:p>
            <a:pPr algn="ctr"/>
            <a:r>
              <a:rPr sz="1400" b="1" i="0">
                <a:solidFill>
                  <a:srgbClr val="0D1B2A"/>
                </a:solidFill>
              </a:rPr>
              <a:t>edge2 MSPT</a:t>
            </a:r>
          </a:p>
        </p:txBody>
      </p:sp>
      <p:sp>
        <p:nvSpPr>
          <p:cNvPr id="15" name="Rectangle 14"/>
          <p:cNvSpPr/>
          <p:nvPr/>
        </p:nvSpPr>
        <p:spPr>
          <a:xfrm>
            <a:off x="274320"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2178884"/>
            <a:ext cx="1261872" cy="651836"/>
          </a:xfrm>
          <a:prstGeom prst="rect">
            <a:avLst/>
          </a:prstGeom>
          <a:noFill/>
        </p:spPr>
        <p:txBody>
          <a:bodyPr wrap="square">
            <a:spAutoFit/>
          </a:bodyPr>
          <a:lstStyle/>
          <a:p>
            <a:pPr algn="ctr"/>
            <a:r>
              <a:rPr sz="1300" b="0" i="0">
                <a:solidFill>
                  <a:srgbClr val="FFFFFF"/>
                </a:solidFill>
              </a:rPr>
              <a:t>1</a:t>
            </a:r>
          </a:p>
        </p:txBody>
      </p:sp>
      <p:sp>
        <p:nvSpPr>
          <p:cNvPr id="17" name="Rectangle 16"/>
          <p:cNvSpPr/>
          <p:nvPr/>
        </p:nvSpPr>
        <p:spPr>
          <a:xfrm>
            <a:off x="1609344"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0" y="2178884"/>
            <a:ext cx="1261872" cy="651836"/>
          </a:xfrm>
          <a:prstGeom prst="rect">
            <a:avLst/>
          </a:prstGeom>
          <a:noFill/>
        </p:spPr>
        <p:txBody>
          <a:bodyPr wrap="square">
            <a:spAutoFit/>
          </a:bodyPr>
          <a:lstStyle/>
          <a:p>
            <a:pPr algn="ctr"/>
            <a:r>
              <a:rPr sz="1300" b="0" i="0">
                <a:solidFill>
                  <a:srgbClr val="FFFFFF"/>
                </a:solidFill>
              </a:rPr>
              <a:t>6 ms</a:t>
            </a:r>
          </a:p>
        </p:txBody>
      </p:sp>
      <p:sp>
        <p:nvSpPr>
          <p:cNvPr id="19" name="Rectangle 18"/>
          <p:cNvSpPr/>
          <p:nvPr/>
        </p:nvSpPr>
        <p:spPr>
          <a:xfrm>
            <a:off x="2944368"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80944" y="2178884"/>
            <a:ext cx="1261872" cy="651836"/>
          </a:xfrm>
          <a:prstGeom prst="rect">
            <a:avLst/>
          </a:prstGeom>
          <a:noFill/>
        </p:spPr>
        <p:txBody>
          <a:bodyPr wrap="square">
            <a:spAutoFit/>
          </a:bodyPr>
          <a:lstStyle/>
          <a:p>
            <a:pPr algn="ctr"/>
            <a:r>
              <a:rPr sz="1300" b="0" i="0">
                <a:solidFill>
                  <a:srgbClr val="FFFFFF"/>
                </a:solidFill>
              </a:rPr>
              <a:t>1.0 ms</a:t>
            </a:r>
          </a:p>
        </p:txBody>
      </p:sp>
      <p:sp>
        <p:nvSpPr>
          <p:cNvPr id="21" name="Rectangle 20"/>
          <p:cNvSpPr/>
          <p:nvPr/>
        </p:nvSpPr>
        <p:spPr>
          <a:xfrm>
            <a:off x="4279392"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2178884"/>
            <a:ext cx="1261872" cy="651836"/>
          </a:xfrm>
          <a:prstGeom prst="rect">
            <a:avLst/>
          </a:prstGeom>
          <a:noFill/>
        </p:spPr>
        <p:txBody>
          <a:bodyPr wrap="square">
            <a:spAutoFit/>
          </a:bodyPr>
          <a:lstStyle/>
          <a:p>
            <a:pPr algn="ctr"/>
            <a:r>
              <a:rPr sz="1300" b="0" i="0">
                <a:solidFill>
                  <a:srgbClr val="FFFFFF"/>
                </a:solidFill>
              </a:rPr>
              <a:t>16 ms</a:t>
            </a:r>
          </a:p>
        </p:txBody>
      </p:sp>
      <p:sp>
        <p:nvSpPr>
          <p:cNvPr id="23" name="Rectangle 22"/>
          <p:cNvSpPr/>
          <p:nvPr/>
        </p:nvSpPr>
        <p:spPr>
          <a:xfrm>
            <a:off x="5614416" y="2142308"/>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50992" y="2178884"/>
            <a:ext cx="1261872" cy="651836"/>
          </a:xfrm>
          <a:prstGeom prst="rect">
            <a:avLst/>
          </a:prstGeom>
          <a:noFill/>
        </p:spPr>
        <p:txBody>
          <a:bodyPr wrap="square">
            <a:spAutoFit/>
          </a:bodyPr>
          <a:lstStyle/>
          <a:p>
            <a:pPr algn="ctr"/>
            <a:r>
              <a:rPr sz="1300" b="0" i="0">
                <a:solidFill>
                  <a:srgbClr val="FFFFFF"/>
                </a:solidFill>
              </a:rPr>
              <a:t>1.6 ms</a:t>
            </a:r>
          </a:p>
        </p:txBody>
      </p:sp>
      <p:sp>
        <p:nvSpPr>
          <p:cNvPr id="25" name="Rectangle 24"/>
          <p:cNvSpPr/>
          <p:nvPr/>
        </p:nvSpPr>
        <p:spPr>
          <a:xfrm>
            <a:off x="274320"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 y="2903873"/>
            <a:ext cx="1261872" cy="651836"/>
          </a:xfrm>
          <a:prstGeom prst="rect">
            <a:avLst/>
          </a:prstGeom>
          <a:noFill/>
        </p:spPr>
        <p:txBody>
          <a:bodyPr wrap="square">
            <a:spAutoFit/>
          </a:bodyPr>
          <a:lstStyle/>
          <a:p>
            <a:pPr algn="ctr"/>
            <a:r>
              <a:rPr sz="1300" b="0" i="0">
                <a:solidFill>
                  <a:srgbClr val="FFFFFF"/>
                </a:solidFill>
              </a:rPr>
              <a:t>20</a:t>
            </a:r>
          </a:p>
        </p:txBody>
      </p:sp>
      <p:sp>
        <p:nvSpPr>
          <p:cNvPr id="27" name="Rectangle 26"/>
          <p:cNvSpPr/>
          <p:nvPr/>
        </p:nvSpPr>
        <p:spPr>
          <a:xfrm>
            <a:off x="1609344"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45920" y="2903873"/>
            <a:ext cx="1261872" cy="651836"/>
          </a:xfrm>
          <a:prstGeom prst="rect">
            <a:avLst/>
          </a:prstGeom>
          <a:noFill/>
        </p:spPr>
        <p:txBody>
          <a:bodyPr wrap="square">
            <a:spAutoFit/>
          </a:bodyPr>
          <a:lstStyle/>
          <a:p>
            <a:pPr algn="ctr"/>
            <a:r>
              <a:rPr sz="1300" b="0" i="0">
                <a:solidFill>
                  <a:srgbClr val="FFFFFF"/>
                </a:solidFill>
              </a:rPr>
              <a:t>8.5 ms</a:t>
            </a:r>
          </a:p>
        </p:txBody>
      </p:sp>
      <p:sp>
        <p:nvSpPr>
          <p:cNvPr id="29" name="Rectangle 28"/>
          <p:cNvSpPr/>
          <p:nvPr/>
        </p:nvSpPr>
        <p:spPr>
          <a:xfrm>
            <a:off x="2944368"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80944" y="2903873"/>
            <a:ext cx="1261872" cy="651836"/>
          </a:xfrm>
          <a:prstGeom prst="rect">
            <a:avLst/>
          </a:prstGeom>
          <a:noFill/>
        </p:spPr>
        <p:txBody>
          <a:bodyPr wrap="square">
            <a:spAutoFit/>
          </a:bodyPr>
          <a:lstStyle/>
          <a:p>
            <a:pPr algn="ctr"/>
            <a:r>
              <a:rPr sz="1300" b="0" i="0">
                <a:solidFill>
                  <a:srgbClr val="FFFFFF"/>
                </a:solidFill>
              </a:rPr>
              <a:t>2.5 ms</a:t>
            </a:r>
          </a:p>
        </p:txBody>
      </p:sp>
      <p:sp>
        <p:nvSpPr>
          <p:cNvPr id="31" name="Rectangle 30"/>
          <p:cNvSpPr/>
          <p:nvPr/>
        </p:nvSpPr>
        <p:spPr>
          <a:xfrm>
            <a:off x="4279392"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15968" y="2903873"/>
            <a:ext cx="1261872" cy="651836"/>
          </a:xfrm>
          <a:prstGeom prst="rect">
            <a:avLst/>
          </a:prstGeom>
          <a:noFill/>
        </p:spPr>
        <p:txBody>
          <a:bodyPr wrap="square">
            <a:spAutoFit/>
          </a:bodyPr>
          <a:lstStyle/>
          <a:p>
            <a:pPr algn="ctr"/>
            <a:r>
              <a:rPr sz="1300" b="0" i="0">
                <a:solidFill>
                  <a:srgbClr val="FFFFFF"/>
                </a:solidFill>
              </a:rPr>
              <a:t>17.5 ms</a:t>
            </a:r>
          </a:p>
        </p:txBody>
      </p:sp>
      <p:sp>
        <p:nvSpPr>
          <p:cNvPr id="33" name="Rectangle 32"/>
          <p:cNvSpPr/>
          <p:nvPr/>
        </p:nvSpPr>
        <p:spPr>
          <a:xfrm>
            <a:off x="5614416" y="2867297"/>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0992" y="2903873"/>
            <a:ext cx="1261872" cy="651836"/>
          </a:xfrm>
          <a:prstGeom prst="rect">
            <a:avLst/>
          </a:prstGeom>
          <a:noFill/>
        </p:spPr>
        <p:txBody>
          <a:bodyPr wrap="square">
            <a:spAutoFit/>
          </a:bodyPr>
          <a:lstStyle/>
          <a:p>
            <a:pPr algn="ctr"/>
            <a:r>
              <a:rPr sz="1300" b="0" i="0">
                <a:solidFill>
                  <a:srgbClr val="FFFFFF"/>
                </a:solidFill>
              </a:rPr>
              <a:t>2.5 ms</a:t>
            </a:r>
          </a:p>
        </p:txBody>
      </p:sp>
      <p:sp>
        <p:nvSpPr>
          <p:cNvPr id="35" name="Rectangle 34"/>
          <p:cNvSpPr/>
          <p:nvPr/>
        </p:nvSpPr>
        <p:spPr>
          <a:xfrm>
            <a:off x="274320"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3628861"/>
            <a:ext cx="1261872" cy="651836"/>
          </a:xfrm>
          <a:prstGeom prst="rect">
            <a:avLst/>
          </a:prstGeom>
          <a:noFill/>
        </p:spPr>
        <p:txBody>
          <a:bodyPr wrap="square">
            <a:spAutoFit/>
          </a:bodyPr>
          <a:lstStyle/>
          <a:p>
            <a:pPr algn="ctr"/>
            <a:r>
              <a:rPr sz="1300" b="0" i="0">
                <a:solidFill>
                  <a:srgbClr val="FFFFFF"/>
                </a:solidFill>
              </a:rPr>
              <a:t>40</a:t>
            </a:r>
          </a:p>
        </p:txBody>
      </p:sp>
      <p:sp>
        <p:nvSpPr>
          <p:cNvPr id="37" name="Rectangle 36"/>
          <p:cNvSpPr/>
          <p:nvPr/>
        </p:nvSpPr>
        <p:spPr>
          <a:xfrm>
            <a:off x="1609344"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45920" y="3628861"/>
            <a:ext cx="1261872" cy="651836"/>
          </a:xfrm>
          <a:prstGeom prst="rect">
            <a:avLst/>
          </a:prstGeom>
          <a:noFill/>
        </p:spPr>
        <p:txBody>
          <a:bodyPr wrap="square">
            <a:spAutoFit/>
          </a:bodyPr>
          <a:lstStyle/>
          <a:p>
            <a:pPr algn="ctr"/>
            <a:r>
              <a:rPr sz="1300" b="0" i="0">
                <a:solidFill>
                  <a:srgbClr val="FFFFFF"/>
                </a:solidFill>
              </a:rPr>
              <a:t>14.5 ms</a:t>
            </a:r>
          </a:p>
        </p:txBody>
      </p:sp>
      <p:sp>
        <p:nvSpPr>
          <p:cNvPr id="39" name="Rectangle 38"/>
          <p:cNvSpPr/>
          <p:nvPr/>
        </p:nvSpPr>
        <p:spPr>
          <a:xfrm>
            <a:off x="2944368"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80944" y="3628861"/>
            <a:ext cx="1261872" cy="651836"/>
          </a:xfrm>
          <a:prstGeom prst="rect">
            <a:avLst/>
          </a:prstGeom>
          <a:noFill/>
        </p:spPr>
        <p:txBody>
          <a:bodyPr wrap="square">
            <a:spAutoFit/>
          </a:bodyPr>
          <a:lstStyle/>
          <a:p>
            <a:pPr algn="ctr"/>
            <a:r>
              <a:rPr sz="1300" b="0" i="0">
                <a:solidFill>
                  <a:srgbClr val="FFFFFF"/>
                </a:solidFill>
              </a:rPr>
              <a:t>4.6 ms</a:t>
            </a:r>
          </a:p>
        </p:txBody>
      </p:sp>
      <p:sp>
        <p:nvSpPr>
          <p:cNvPr id="41" name="Rectangle 40"/>
          <p:cNvSpPr/>
          <p:nvPr/>
        </p:nvSpPr>
        <p:spPr>
          <a:xfrm>
            <a:off x="4279392"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15968" y="3628861"/>
            <a:ext cx="1261872" cy="651836"/>
          </a:xfrm>
          <a:prstGeom prst="rect">
            <a:avLst/>
          </a:prstGeom>
          <a:noFill/>
        </p:spPr>
        <p:txBody>
          <a:bodyPr wrap="square">
            <a:spAutoFit/>
          </a:bodyPr>
          <a:lstStyle/>
          <a:p>
            <a:pPr algn="ctr"/>
            <a:r>
              <a:rPr sz="1300" b="0" i="0">
                <a:solidFill>
                  <a:srgbClr val="FFFFFF"/>
                </a:solidFill>
              </a:rPr>
              <a:t>21 ms</a:t>
            </a:r>
          </a:p>
        </p:txBody>
      </p:sp>
      <p:sp>
        <p:nvSpPr>
          <p:cNvPr id="43" name="Rectangle 42"/>
          <p:cNvSpPr/>
          <p:nvPr/>
        </p:nvSpPr>
        <p:spPr>
          <a:xfrm>
            <a:off x="5614416" y="3592285"/>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50992" y="3628861"/>
            <a:ext cx="1261872" cy="651836"/>
          </a:xfrm>
          <a:prstGeom prst="rect">
            <a:avLst/>
          </a:prstGeom>
          <a:noFill/>
        </p:spPr>
        <p:txBody>
          <a:bodyPr wrap="square">
            <a:spAutoFit/>
          </a:bodyPr>
          <a:lstStyle/>
          <a:p>
            <a:pPr algn="ctr"/>
            <a:r>
              <a:rPr sz="1300" b="0" i="0">
                <a:solidFill>
                  <a:srgbClr val="FFFFFF"/>
                </a:solidFill>
              </a:rPr>
              <a:t>4.0 ms</a:t>
            </a:r>
          </a:p>
        </p:txBody>
      </p:sp>
      <p:sp>
        <p:nvSpPr>
          <p:cNvPr id="45" name="Rectangle 44"/>
          <p:cNvSpPr/>
          <p:nvPr/>
        </p:nvSpPr>
        <p:spPr>
          <a:xfrm>
            <a:off x="274320"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896" y="4353850"/>
            <a:ext cx="1261872" cy="651836"/>
          </a:xfrm>
          <a:prstGeom prst="rect">
            <a:avLst/>
          </a:prstGeom>
          <a:noFill/>
        </p:spPr>
        <p:txBody>
          <a:bodyPr wrap="square">
            <a:spAutoFit/>
          </a:bodyPr>
          <a:lstStyle/>
          <a:p>
            <a:pPr algn="ctr"/>
            <a:r>
              <a:rPr sz="1300" b="0" i="0">
                <a:solidFill>
                  <a:srgbClr val="FFFFFF"/>
                </a:solidFill>
              </a:rPr>
              <a:t>60</a:t>
            </a:r>
          </a:p>
        </p:txBody>
      </p:sp>
      <p:sp>
        <p:nvSpPr>
          <p:cNvPr id="47" name="Rectangle 46"/>
          <p:cNvSpPr/>
          <p:nvPr/>
        </p:nvSpPr>
        <p:spPr>
          <a:xfrm>
            <a:off x="1609344"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45920" y="4353850"/>
            <a:ext cx="1261872" cy="651836"/>
          </a:xfrm>
          <a:prstGeom prst="rect">
            <a:avLst/>
          </a:prstGeom>
          <a:noFill/>
        </p:spPr>
        <p:txBody>
          <a:bodyPr wrap="square">
            <a:spAutoFit/>
          </a:bodyPr>
          <a:lstStyle/>
          <a:p>
            <a:pPr algn="ctr"/>
            <a:r>
              <a:rPr sz="1300" b="0" i="0">
                <a:solidFill>
                  <a:srgbClr val="FFFFFF"/>
                </a:solidFill>
              </a:rPr>
              <a:t>7.7 s</a:t>
            </a:r>
          </a:p>
        </p:txBody>
      </p:sp>
      <p:sp>
        <p:nvSpPr>
          <p:cNvPr id="49" name="Rectangle 48"/>
          <p:cNvSpPr/>
          <p:nvPr/>
        </p:nvSpPr>
        <p:spPr>
          <a:xfrm>
            <a:off x="2944368"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80944" y="4353850"/>
            <a:ext cx="1261872" cy="651836"/>
          </a:xfrm>
          <a:prstGeom prst="rect">
            <a:avLst/>
          </a:prstGeom>
          <a:noFill/>
        </p:spPr>
        <p:txBody>
          <a:bodyPr wrap="square">
            <a:spAutoFit/>
          </a:bodyPr>
          <a:lstStyle/>
          <a:p>
            <a:pPr algn="ctr"/>
            <a:r>
              <a:rPr sz="1300" b="0" i="0">
                <a:solidFill>
                  <a:srgbClr val="FFFFFF"/>
                </a:solidFill>
              </a:rPr>
              <a:t>46 ms</a:t>
            </a:r>
          </a:p>
        </p:txBody>
      </p:sp>
      <p:sp>
        <p:nvSpPr>
          <p:cNvPr id="51" name="Rectangle 50"/>
          <p:cNvSpPr/>
          <p:nvPr/>
        </p:nvSpPr>
        <p:spPr>
          <a:xfrm>
            <a:off x="4279392"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15968" y="4353850"/>
            <a:ext cx="1261872" cy="651836"/>
          </a:xfrm>
          <a:prstGeom prst="rect">
            <a:avLst/>
          </a:prstGeom>
          <a:noFill/>
        </p:spPr>
        <p:txBody>
          <a:bodyPr wrap="square">
            <a:spAutoFit/>
          </a:bodyPr>
          <a:lstStyle/>
          <a:p>
            <a:pPr algn="ctr"/>
            <a:r>
              <a:rPr sz="1300" b="0" i="0">
                <a:solidFill>
                  <a:srgbClr val="FFFFFF"/>
                </a:solidFill>
              </a:rPr>
              <a:t>23 ms</a:t>
            </a:r>
          </a:p>
        </p:txBody>
      </p:sp>
      <p:sp>
        <p:nvSpPr>
          <p:cNvPr id="53" name="Rectangle 52"/>
          <p:cNvSpPr/>
          <p:nvPr/>
        </p:nvSpPr>
        <p:spPr>
          <a:xfrm>
            <a:off x="5614416" y="4317274"/>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50992" y="4353850"/>
            <a:ext cx="1261872" cy="651836"/>
          </a:xfrm>
          <a:prstGeom prst="rect">
            <a:avLst/>
          </a:prstGeom>
          <a:noFill/>
        </p:spPr>
        <p:txBody>
          <a:bodyPr wrap="square">
            <a:spAutoFit/>
          </a:bodyPr>
          <a:lstStyle/>
          <a:p>
            <a:pPr algn="ctr"/>
            <a:r>
              <a:rPr sz="1300" b="0" i="0">
                <a:solidFill>
                  <a:srgbClr val="FFFFFF"/>
                </a:solidFill>
              </a:rPr>
              <a:t>6.3 ms</a:t>
            </a:r>
          </a:p>
        </p:txBody>
      </p:sp>
      <p:sp>
        <p:nvSpPr>
          <p:cNvPr id="55" name="Rectangle 54"/>
          <p:cNvSpPr/>
          <p:nvPr/>
        </p:nvSpPr>
        <p:spPr>
          <a:xfrm>
            <a:off x="274320"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0896" y="5078838"/>
            <a:ext cx="1261872" cy="651836"/>
          </a:xfrm>
          <a:prstGeom prst="rect">
            <a:avLst/>
          </a:prstGeom>
          <a:noFill/>
        </p:spPr>
        <p:txBody>
          <a:bodyPr wrap="square">
            <a:spAutoFit/>
          </a:bodyPr>
          <a:lstStyle/>
          <a:p>
            <a:pPr algn="ctr"/>
            <a:r>
              <a:rPr sz="1300" b="0" i="0">
                <a:solidFill>
                  <a:srgbClr val="FFFFFF"/>
                </a:solidFill>
              </a:rPr>
              <a:t>80</a:t>
            </a:r>
          </a:p>
        </p:txBody>
      </p:sp>
      <p:sp>
        <p:nvSpPr>
          <p:cNvPr id="57" name="Rectangle 56"/>
          <p:cNvSpPr/>
          <p:nvPr/>
        </p:nvSpPr>
        <p:spPr>
          <a:xfrm>
            <a:off x="1609344"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45920" y="5078838"/>
            <a:ext cx="1261872" cy="651836"/>
          </a:xfrm>
          <a:prstGeom prst="rect">
            <a:avLst/>
          </a:prstGeom>
          <a:noFill/>
        </p:spPr>
        <p:txBody>
          <a:bodyPr wrap="square">
            <a:spAutoFit/>
          </a:bodyPr>
          <a:lstStyle/>
          <a:p>
            <a:pPr algn="ctr"/>
            <a:r>
              <a:rPr sz="1300" b="0" i="0">
                <a:solidFill>
                  <a:srgbClr val="FFFFFF"/>
                </a:solidFill>
              </a:rPr>
              <a:t>not run</a:t>
            </a:r>
          </a:p>
        </p:txBody>
      </p:sp>
      <p:sp>
        <p:nvSpPr>
          <p:cNvPr id="59" name="Rectangle 58"/>
          <p:cNvSpPr/>
          <p:nvPr/>
        </p:nvSpPr>
        <p:spPr>
          <a:xfrm>
            <a:off x="2944368"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980944" y="5078838"/>
            <a:ext cx="1261872" cy="651836"/>
          </a:xfrm>
          <a:prstGeom prst="rect">
            <a:avLst/>
          </a:prstGeom>
          <a:noFill/>
        </p:spPr>
        <p:txBody>
          <a:bodyPr wrap="square">
            <a:spAutoFit/>
          </a:bodyPr>
          <a:lstStyle/>
          <a:p>
            <a:pPr algn="ctr"/>
            <a:r>
              <a:rPr sz="1300" b="0" i="0">
                <a:solidFill>
                  <a:srgbClr val="FFFFFF"/>
                </a:solidFill>
              </a:rPr>
              <a:t>not run</a:t>
            </a:r>
          </a:p>
        </p:txBody>
      </p:sp>
      <p:sp>
        <p:nvSpPr>
          <p:cNvPr id="61" name="Rectangle 60"/>
          <p:cNvSpPr/>
          <p:nvPr/>
        </p:nvSpPr>
        <p:spPr>
          <a:xfrm>
            <a:off x="4279392"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15968" y="5078838"/>
            <a:ext cx="1261872" cy="651836"/>
          </a:xfrm>
          <a:prstGeom prst="rect">
            <a:avLst/>
          </a:prstGeom>
          <a:noFill/>
        </p:spPr>
        <p:txBody>
          <a:bodyPr wrap="square">
            <a:spAutoFit/>
          </a:bodyPr>
          <a:lstStyle/>
          <a:p>
            <a:pPr algn="ctr"/>
            <a:r>
              <a:rPr sz="1300" b="0" i="0">
                <a:solidFill>
                  <a:srgbClr val="FFFFFF"/>
                </a:solidFill>
              </a:rPr>
              <a:t>34 ms – 2.7 s</a:t>
            </a:r>
          </a:p>
        </p:txBody>
      </p:sp>
      <p:sp>
        <p:nvSpPr>
          <p:cNvPr id="63" name="Rectangle 62"/>
          <p:cNvSpPr/>
          <p:nvPr/>
        </p:nvSpPr>
        <p:spPr>
          <a:xfrm>
            <a:off x="5614416" y="5042262"/>
            <a:ext cx="1335024" cy="724988"/>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650992" y="5078838"/>
            <a:ext cx="1261872" cy="651836"/>
          </a:xfrm>
          <a:prstGeom prst="rect">
            <a:avLst/>
          </a:prstGeom>
          <a:noFill/>
        </p:spPr>
        <p:txBody>
          <a:bodyPr wrap="square">
            <a:spAutoFit/>
          </a:bodyPr>
          <a:lstStyle/>
          <a:p>
            <a:pPr algn="ctr"/>
            <a:r>
              <a:rPr sz="1300" b="0" i="0">
                <a:solidFill>
                  <a:srgbClr val="FFFFFF"/>
                </a:solidFill>
              </a:rPr>
              <a:t>11 ms</a:t>
            </a:r>
          </a:p>
        </p:txBody>
      </p:sp>
      <p:sp>
        <p:nvSpPr>
          <p:cNvPr id="65" name="Rectangle 64"/>
          <p:cNvSpPr/>
          <p:nvPr/>
        </p:nvSpPr>
        <p:spPr>
          <a:xfrm>
            <a:off x="274320"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0896" y="5803827"/>
            <a:ext cx="1261872" cy="651836"/>
          </a:xfrm>
          <a:prstGeom prst="rect">
            <a:avLst/>
          </a:prstGeom>
          <a:noFill/>
        </p:spPr>
        <p:txBody>
          <a:bodyPr wrap="square">
            <a:spAutoFit/>
          </a:bodyPr>
          <a:lstStyle/>
          <a:p>
            <a:pPr algn="ctr"/>
            <a:r>
              <a:rPr sz="1300" b="0" i="0">
                <a:solidFill>
                  <a:srgbClr val="FFFFFF"/>
                </a:solidFill>
              </a:rPr>
              <a:t>100</a:t>
            </a:r>
          </a:p>
        </p:txBody>
      </p:sp>
      <p:sp>
        <p:nvSpPr>
          <p:cNvPr id="67" name="Rectangle 66"/>
          <p:cNvSpPr/>
          <p:nvPr/>
        </p:nvSpPr>
        <p:spPr>
          <a:xfrm>
            <a:off x="1609344"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645920" y="5803827"/>
            <a:ext cx="1261872" cy="651836"/>
          </a:xfrm>
          <a:prstGeom prst="rect">
            <a:avLst/>
          </a:prstGeom>
          <a:noFill/>
        </p:spPr>
        <p:txBody>
          <a:bodyPr wrap="square">
            <a:spAutoFit/>
          </a:bodyPr>
          <a:lstStyle/>
          <a:p>
            <a:pPr algn="ctr"/>
            <a:r>
              <a:rPr sz="1300" b="0" i="0">
                <a:solidFill>
                  <a:srgbClr val="FFFFFF"/>
                </a:solidFill>
              </a:rPr>
              <a:t>not run</a:t>
            </a:r>
          </a:p>
        </p:txBody>
      </p:sp>
      <p:sp>
        <p:nvSpPr>
          <p:cNvPr id="69" name="Rectangle 68"/>
          <p:cNvSpPr/>
          <p:nvPr/>
        </p:nvSpPr>
        <p:spPr>
          <a:xfrm>
            <a:off x="2944368"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80944" y="5803827"/>
            <a:ext cx="1261872" cy="651836"/>
          </a:xfrm>
          <a:prstGeom prst="rect">
            <a:avLst/>
          </a:prstGeom>
          <a:noFill/>
        </p:spPr>
        <p:txBody>
          <a:bodyPr wrap="square">
            <a:spAutoFit/>
          </a:bodyPr>
          <a:lstStyle/>
          <a:p>
            <a:pPr algn="ctr"/>
            <a:r>
              <a:rPr sz="1300" b="0" i="0">
                <a:solidFill>
                  <a:srgbClr val="FFFFFF"/>
                </a:solidFill>
              </a:rPr>
              <a:t>not run</a:t>
            </a:r>
          </a:p>
        </p:txBody>
      </p:sp>
      <p:sp>
        <p:nvSpPr>
          <p:cNvPr id="71" name="Rectangle 70"/>
          <p:cNvSpPr/>
          <p:nvPr/>
        </p:nvSpPr>
        <p:spPr>
          <a:xfrm>
            <a:off x="4279392"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315968" y="5803827"/>
            <a:ext cx="1261872" cy="651836"/>
          </a:xfrm>
          <a:prstGeom prst="rect">
            <a:avLst/>
          </a:prstGeom>
          <a:noFill/>
        </p:spPr>
        <p:txBody>
          <a:bodyPr wrap="square">
            <a:spAutoFit/>
          </a:bodyPr>
          <a:lstStyle/>
          <a:p>
            <a:pPr algn="ctr"/>
            <a:r>
              <a:rPr sz="1300" b="0" i="0">
                <a:solidFill>
                  <a:srgbClr val="FFFFFF"/>
                </a:solidFill>
              </a:rPr>
              <a:t>5.3 – 14.4 s</a:t>
            </a:r>
          </a:p>
        </p:txBody>
      </p:sp>
      <p:sp>
        <p:nvSpPr>
          <p:cNvPr id="73" name="Rectangle 72"/>
          <p:cNvSpPr/>
          <p:nvPr/>
        </p:nvSpPr>
        <p:spPr>
          <a:xfrm>
            <a:off x="5614416" y="5767251"/>
            <a:ext cx="1335024" cy="724988"/>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650992" y="5803827"/>
            <a:ext cx="1261872" cy="651836"/>
          </a:xfrm>
          <a:prstGeom prst="rect">
            <a:avLst/>
          </a:prstGeom>
          <a:noFill/>
        </p:spPr>
        <p:txBody>
          <a:bodyPr wrap="square">
            <a:spAutoFit/>
          </a:bodyPr>
          <a:lstStyle/>
          <a:p>
            <a:pPr algn="ctr"/>
            <a:r>
              <a:rPr sz="1300" b="0" i="0">
                <a:solidFill>
                  <a:srgbClr val="FFFFFF"/>
                </a:solidFill>
              </a:rPr>
              <a:t>46 ms</a:t>
            </a:r>
          </a:p>
        </p:txBody>
      </p:sp>
      <p:sp>
        <p:nvSpPr>
          <p:cNvPr id="75" name="Rectangle 74"/>
          <p:cNvSpPr/>
          <p:nvPr/>
        </p:nvSpPr>
        <p:spPr>
          <a:xfrm>
            <a:off x="7178040" y="1417320"/>
            <a:ext cx="4663440" cy="33375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342632" y="1554480"/>
            <a:ext cx="4334256" cy="3063240"/>
          </a:xfrm>
          <a:prstGeom prst="rect">
            <a:avLst/>
          </a:prstGeom>
          <a:noFill/>
        </p:spPr>
        <p:txBody>
          <a:bodyPr wrap="square">
            <a:spAutoFit/>
          </a:bodyPr>
          <a:lstStyle/>
          <a:p>
            <a:pPr algn="l"/>
            <a:r>
              <a:rPr sz="1700" b="1">
                <a:solidFill>
                  <a:srgbClr val="00C2B2"/>
                </a:solidFill>
              </a:rPr>
              <a:t>The flat-then-vertical shape</a:t>
            </a:r>
          </a:p>
          <a:p>
            <a:pPr algn="l"/>
            <a:r>
              <a:rPr sz="1600">
                <a:solidFill>
                  <a:srgbClr val="FFFFFF"/>
                </a:solidFill>
              </a:rPr>
              <a:t>▸ edge1 (0.5 core) stays within 10 ms of its 5 ms network RTT up to 40 players</a:t>
            </a:r>
          </a:p>
          <a:p>
            <a:pPr algn="l"/>
            <a:r>
              <a:rPr sz="1600">
                <a:solidFill>
                  <a:srgbClr val="FFFFFF"/>
                </a:solidFill>
              </a:rPr>
              <a:t>▸ Between 40 and 60 players its p95 jumps to 6.7–8.6 s</a:t>
            </a:r>
          </a:p>
          <a:p>
            <a:pPr algn="l"/>
            <a:r>
              <a:rPr sz="1600">
                <a:solidFill>
                  <a:srgbClr val="FFFFFF"/>
                </a:solidFill>
              </a:rPr>
              <a:t>▸ edge2 (1 core) is flat to 60 players; knee at 80, breaks by 100</a:t>
            </a:r>
          </a:p>
          <a:p>
            <a:pPr algn="l"/>
            <a:r>
              <a:rPr sz="1600">
                <a:solidFill>
                  <a:srgbClr val="FFFFFF"/>
                </a:solidFill>
              </a:rPr>
              <a:t>▸ edge3 and cloud never reach a knee within 100 players</a:t>
            </a:r>
          </a:p>
          <a:p>
            <a:pPr algn="l"/>
            <a:r>
              <a:rPr sz="1600">
                <a:solidFill>
                  <a:srgbClr val="FFFFFF"/>
                </a:solidFill>
              </a:rPr>
              <a:t>▸ ICMP never moved more than 0.3 ms in any cell</a:t>
            </a:r>
          </a:p>
        </p:txBody>
      </p:sp>
      <p:sp>
        <p:nvSpPr>
          <p:cNvPr id="77" name="Rectangle 76"/>
          <p:cNvSpPr/>
          <p:nvPr/>
        </p:nvSpPr>
        <p:spPr>
          <a:xfrm>
            <a:off x="7178040" y="4892040"/>
            <a:ext cx="4663440" cy="1600200"/>
          </a:xfrm>
          <a:prstGeom prst="rect">
            <a:avLst/>
          </a:prstGeom>
          <a:solidFill>
            <a:srgbClr val="040D14"/>
          </a:solidFill>
          <a:ln w="1270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200" y="4983480"/>
            <a:ext cx="4389120" cy="1417320"/>
          </a:xfrm>
          <a:prstGeom prst="rect">
            <a:avLst/>
          </a:prstGeom>
          <a:noFill/>
        </p:spPr>
        <p:txBody>
          <a:bodyPr wrap="square">
            <a:spAutoFit/>
          </a:bodyPr>
          <a:lstStyle/>
          <a:p>
            <a:pPr algn="ctr"/>
            <a:r>
              <a:rPr sz="1500" b="0" i="1">
                <a:solidFill>
                  <a:srgbClr val="00C2B2"/>
                </a:solidFill>
              </a:rPr>
              <a:t>The tail breaks first</a:t>
            </a:r>
          </a:p>
          <a:p>
            <a:pPr algn="ctr"/>
            <a:r>
              <a:rPr sz="1500" b="0" i="1">
                <a:solidFill>
                  <a:srgbClr val="00C2B2"/>
                </a:solidFill>
              </a:rPr>
              <a:t>▸ edge1 at 50 players: MSPT 6.6 ms, 1/8 of the budget</a:t>
            </a:r>
          </a:p>
          <a:p>
            <a:pPr algn="ctr"/>
            <a:r>
              <a:rPr sz="1500" b="0" i="1">
                <a:solidFill>
                  <a:srgbClr val="00C2B2"/>
                </a:solidFill>
              </a:rPr>
              <a:t>▸ p95 already 47–308 ms</a:t>
            </a:r>
          </a:p>
        </p:txBody>
      </p:sp>
      <p:sp>
        <p:nvSpPr>
          <p:cNvPr id="79" name="TextBox 78"/>
          <p:cNvSpPr txBox="1"/>
          <p:nvPr/>
        </p:nvSpPr>
        <p:spPr>
          <a:xfrm>
            <a:off x="7342632" y="60000"/>
            <a:ext cx="4572000" cy="300000"/>
          </a:xfrm>
          <a:prstGeom prst="rect">
            <a:avLst/>
          </a:prstGeom>
          <a:noFill/>
        </p:spPr>
        <p:txBody>
          <a:bodyPr wrap="none">
            <a:spAutoFit/>
          </a:bodyPr>
          <a:lstStyle/>
          <a:p>
            <a:pPr algn="r"/>
            <a:r>
              <a:rPr sz="1100" b="1">
                <a:solidFill>
                  <a:srgbClr val="00C2B2"/>
                </a:solidFill>
              </a:rPr>
              <a:t>IV ·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Rank Inversion: One Match, Which Node?</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The load-blind model always picks the nearest node. Right to 40 players, wrong at 60.</a:t>
            </a:r>
          </a:p>
        </p:txBody>
      </p:sp>
      <p:sp>
        <p:nvSpPr>
          <p:cNvPr id="5" name="Rectangle 4"/>
          <p:cNvSpPr/>
          <p:nvPr/>
        </p:nvSpPr>
        <p:spPr>
          <a:xfrm>
            <a:off x="274320"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10896" y="1453896"/>
            <a:ext cx="1335024" cy="534270"/>
          </a:xfrm>
          <a:prstGeom prst="rect">
            <a:avLst/>
          </a:prstGeom>
          <a:noFill/>
        </p:spPr>
        <p:txBody>
          <a:bodyPr wrap="square">
            <a:spAutoFit/>
          </a:bodyPr>
          <a:lstStyle/>
          <a:p>
            <a:pPr algn="ctr"/>
            <a:r>
              <a:rPr sz="1500" b="1" i="0">
                <a:solidFill>
                  <a:srgbClr val="0D1B2A"/>
                </a:solidFill>
              </a:rPr>
              <a:t>Players</a:t>
            </a:r>
          </a:p>
        </p:txBody>
      </p:sp>
      <p:sp>
        <p:nvSpPr>
          <p:cNvPr id="7" name="Rectangle 6"/>
          <p:cNvSpPr/>
          <p:nvPr/>
        </p:nvSpPr>
        <p:spPr>
          <a:xfrm>
            <a:off x="1682496"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19072" y="1453896"/>
            <a:ext cx="1335024" cy="534270"/>
          </a:xfrm>
          <a:prstGeom prst="rect">
            <a:avLst/>
          </a:prstGeom>
          <a:noFill/>
        </p:spPr>
        <p:txBody>
          <a:bodyPr wrap="square">
            <a:spAutoFit/>
          </a:bodyPr>
          <a:lstStyle/>
          <a:p>
            <a:pPr algn="ctr"/>
            <a:r>
              <a:rPr sz="1500" b="1" i="0">
                <a:solidFill>
                  <a:srgbClr val="0D1B2A"/>
                </a:solidFill>
              </a:rPr>
              <a:t>edge1 p95</a:t>
            </a:r>
          </a:p>
        </p:txBody>
      </p:sp>
      <p:sp>
        <p:nvSpPr>
          <p:cNvPr id="9" name="Rectangle 8"/>
          <p:cNvSpPr/>
          <p:nvPr/>
        </p:nvSpPr>
        <p:spPr>
          <a:xfrm>
            <a:off x="3090672"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27248" y="1453896"/>
            <a:ext cx="1335024" cy="534270"/>
          </a:xfrm>
          <a:prstGeom prst="rect">
            <a:avLst/>
          </a:prstGeom>
          <a:noFill/>
        </p:spPr>
        <p:txBody>
          <a:bodyPr wrap="square">
            <a:spAutoFit/>
          </a:bodyPr>
          <a:lstStyle/>
          <a:p>
            <a:pPr algn="ctr"/>
            <a:r>
              <a:rPr sz="1500" b="1" i="0">
                <a:solidFill>
                  <a:srgbClr val="0D1B2A"/>
                </a:solidFill>
              </a:rPr>
              <a:t>edge2 p95</a:t>
            </a:r>
          </a:p>
        </p:txBody>
      </p:sp>
      <p:sp>
        <p:nvSpPr>
          <p:cNvPr id="11" name="Rectangle 10"/>
          <p:cNvSpPr/>
          <p:nvPr/>
        </p:nvSpPr>
        <p:spPr>
          <a:xfrm>
            <a:off x="4498848"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1453896"/>
            <a:ext cx="1335024" cy="534270"/>
          </a:xfrm>
          <a:prstGeom prst="rect">
            <a:avLst/>
          </a:prstGeom>
          <a:noFill/>
        </p:spPr>
        <p:txBody>
          <a:bodyPr wrap="square">
            <a:spAutoFit/>
          </a:bodyPr>
          <a:lstStyle/>
          <a:p>
            <a:pPr algn="ctr"/>
            <a:r>
              <a:rPr sz="1500" b="1" i="0">
                <a:solidFill>
                  <a:srgbClr val="0D1B2A"/>
                </a:solidFill>
              </a:rPr>
              <a:t>Model picks</a:t>
            </a:r>
          </a:p>
        </p:txBody>
      </p:sp>
      <p:sp>
        <p:nvSpPr>
          <p:cNvPr id="13" name="Rectangle 12"/>
          <p:cNvSpPr/>
          <p:nvPr/>
        </p:nvSpPr>
        <p:spPr>
          <a:xfrm>
            <a:off x="5907024" y="1417320"/>
            <a:ext cx="1408176" cy="607422"/>
          </a:xfrm>
          <a:prstGeom prst="rect">
            <a:avLst/>
          </a:prstGeom>
          <a:solidFill>
            <a:srgbClr val="00C2B2"/>
          </a:solidFill>
          <a:ln w="6350">
            <a:solidFill>
              <a:srgbClr val="0D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453896"/>
            <a:ext cx="1335024" cy="534270"/>
          </a:xfrm>
          <a:prstGeom prst="rect">
            <a:avLst/>
          </a:prstGeom>
          <a:noFill/>
        </p:spPr>
        <p:txBody>
          <a:bodyPr wrap="square">
            <a:spAutoFit/>
          </a:bodyPr>
          <a:lstStyle/>
          <a:p>
            <a:pPr algn="ctr"/>
            <a:r>
              <a:rPr sz="1500" b="1" i="0">
                <a:solidFill>
                  <a:srgbClr val="0D1B2A"/>
                </a:solidFill>
              </a:rPr>
              <a:t>Measured best</a:t>
            </a:r>
          </a:p>
        </p:txBody>
      </p:sp>
      <p:sp>
        <p:nvSpPr>
          <p:cNvPr id="15" name="Rectangle 14"/>
          <p:cNvSpPr/>
          <p:nvPr/>
        </p:nvSpPr>
        <p:spPr>
          <a:xfrm>
            <a:off x="274320"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0896" y="2061318"/>
            <a:ext cx="1335024" cy="534270"/>
          </a:xfrm>
          <a:prstGeom prst="rect">
            <a:avLst/>
          </a:prstGeom>
          <a:noFill/>
        </p:spPr>
        <p:txBody>
          <a:bodyPr wrap="square">
            <a:spAutoFit/>
          </a:bodyPr>
          <a:lstStyle/>
          <a:p>
            <a:pPr algn="ctr"/>
            <a:r>
              <a:rPr sz="1400" b="0" i="0">
                <a:solidFill>
                  <a:srgbClr val="FFFFFF"/>
                </a:solidFill>
              </a:rPr>
              <a:t>1</a:t>
            </a:r>
          </a:p>
        </p:txBody>
      </p:sp>
      <p:sp>
        <p:nvSpPr>
          <p:cNvPr id="17" name="Rectangle 16"/>
          <p:cNvSpPr/>
          <p:nvPr/>
        </p:nvSpPr>
        <p:spPr>
          <a:xfrm>
            <a:off x="1682496"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19072" y="2061318"/>
            <a:ext cx="1335024" cy="534270"/>
          </a:xfrm>
          <a:prstGeom prst="rect">
            <a:avLst/>
          </a:prstGeom>
          <a:noFill/>
        </p:spPr>
        <p:txBody>
          <a:bodyPr wrap="square">
            <a:spAutoFit/>
          </a:bodyPr>
          <a:lstStyle/>
          <a:p>
            <a:pPr algn="ctr"/>
            <a:r>
              <a:rPr sz="1400" b="0" i="0">
                <a:solidFill>
                  <a:srgbClr val="FFFFFF"/>
                </a:solidFill>
              </a:rPr>
              <a:t>6 ms</a:t>
            </a:r>
          </a:p>
        </p:txBody>
      </p:sp>
      <p:sp>
        <p:nvSpPr>
          <p:cNvPr id="19" name="Rectangle 18"/>
          <p:cNvSpPr/>
          <p:nvPr/>
        </p:nvSpPr>
        <p:spPr>
          <a:xfrm>
            <a:off x="3090672"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27248" y="2061318"/>
            <a:ext cx="1335024" cy="534270"/>
          </a:xfrm>
          <a:prstGeom prst="rect">
            <a:avLst/>
          </a:prstGeom>
          <a:noFill/>
        </p:spPr>
        <p:txBody>
          <a:bodyPr wrap="square">
            <a:spAutoFit/>
          </a:bodyPr>
          <a:lstStyle/>
          <a:p>
            <a:pPr algn="ctr"/>
            <a:r>
              <a:rPr sz="1400" b="0" i="0">
                <a:solidFill>
                  <a:srgbClr val="FFFFFF"/>
                </a:solidFill>
              </a:rPr>
              <a:t>16 ms</a:t>
            </a:r>
          </a:p>
        </p:txBody>
      </p:sp>
      <p:sp>
        <p:nvSpPr>
          <p:cNvPr id="21" name="Rectangle 20"/>
          <p:cNvSpPr/>
          <p:nvPr/>
        </p:nvSpPr>
        <p:spPr>
          <a:xfrm>
            <a:off x="4498848"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5424" y="2061318"/>
            <a:ext cx="1335024" cy="534270"/>
          </a:xfrm>
          <a:prstGeom prst="rect">
            <a:avLst/>
          </a:prstGeom>
          <a:noFill/>
        </p:spPr>
        <p:txBody>
          <a:bodyPr wrap="square">
            <a:spAutoFit/>
          </a:bodyPr>
          <a:lstStyle/>
          <a:p>
            <a:pPr algn="ctr"/>
            <a:r>
              <a:rPr sz="1400" b="0" i="0">
                <a:solidFill>
                  <a:srgbClr val="FFFFFF"/>
                </a:solidFill>
              </a:rPr>
              <a:t>edge1 ✓</a:t>
            </a:r>
          </a:p>
        </p:txBody>
      </p:sp>
      <p:sp>
        <p:nvSpPr>
          <p:cNvPr id="23" name="Rectangle 22"/>
          <p:cNvSpPr/>
          <p:nvPr/>
        </p:nvSpPr>
        <p:spPr>
          <a:xfrm>
            <a:off x="5907024" y="2024742"/>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0" y="2061318"/>
            <a:ext cx="1335024" cy="534270"/>
          </a:xfrm>
          <a:prstGeom prst="rect">
            <a:avLst/>
          </a:prstGeom>
          <a:noFill/>
        </p:spPr>
        <p:txBody>
          <a:bodyPr wrap="square">
            <a:spAutoFit/>
          </a:bodyPr>
          <a:lstStyle/>
          <a:p>
            <a:pPr algn="ctr"/>
            <a:r>
              <a:rPr sz="1400" b="0" i="0">
                <a:solidFill>
                  <a:srgbClr val="FFFFFF"/>
                </a:solidFill>
              </a:rPr>
              <a:t>edge1</a:t>
            </a:r>
          </a:p>
        </p:txBody>
      </p:sp>
      <p:sp>
        <p:nvSpPr>
          <p:cNvPr id="25" name="Rectangle 24"/>
          <p:cNvSpPr/>
          <p:nvPr/>
        </p:nvSpPr>
        <p:spPr>
          <a:xfrm>
            <a:off x="274320"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0896" y="2668741"/>
            <a:ext cx="1335024" cy="534270"/>
          </a:xfrm>
          <a:prstGeom prst="rect">
            <a:avLst/>
          </a:prstGeom>
          <a:noFill/>
        </p:spPr>
        <p:txBody>
          <a:bodyPr wrap="square">
            <a:spAutoFit/>
          </a:bodyPr>
          <a:lstStyle/>
          <a:p>
            <a:pPr algn="ctr"/>
            <a:r>
              <a:rPr sz="1400" b="0" i="0">
                <a:solidFill>
                  <a:srgbClr val="FFFFFF"/>
                </a:solidFill>
              </a:rPr>
              <a:t>20</a:t>
            </a:r>
          </a:p>
        </p:txBody>
      </p:sp>
      <p:sp>
        <p:nvSpPr>
          <p:cNvPr id="27" name="Rectangle 26"/>
          <p:cNvSpPr/>
          <p:nvPr/>
        </p:nvSpPr>
        <p:spPr>
          <a:xfrm>
            <a:off x="1682496"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19072" y="2668741"/>
            <a:ext cx="1335024" cy="534270"/>
          </a:xfrm>
          <a:prstGeom prst="rect">
            <a:avLst/>
          </a:prstGeom>
          <a:noFill/>
        </p:spPr>
        <p:txBody>
          <a:bodyPr wrap="square">
            <a:spAutoFit/>
          </a:bodyPr>
          <a:lstStyle/>
          <a:p>
            <a:pPr algn="ctr"/>
            <a:r>
              <a:rPr sz="1400" b="0" i="0">
                <a:solidFill>
                  <a:srgbClr val="FFFFFF"/>
                </a:solidFill>
              </a:rPr>
              <a:t>8.5 ms</a:t>
            </a:r>
          </a:p>
        </p:txBody>
      </p:sp>
      <p:sp>
        <p:nvSpPr>
          <p:cNvPr id="29" name="Rectangle 28"/>
          <p:cNvSpPr/>
          <p:nvPr/>
        </p:nvSpPr>
        <p:spPr>
          <a:xfrm>
            <a:off x="3090672"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27248" y="2668741"/>
            <a:ext cx="1335024" cy="534270"/>
          </a:xfrm>
          <a:prstGeom prst="rect">
            <a:avLst/>
          </a:prstGeom>
          <a:noFill/>
        </p:spPr>
        <p:txBody>
          <a:bodyPr wrap="square">
            <a:spAutoFit/>
          </a:bodyPr>
          <a:lstStyle/>
          <a:p>
            <a:pPr algn="ctr"/>
            <a:r>
              <a:rPr sz="1400" b="0" i="0">
                <a:solidFill>
                  <a:srgbClr val="FFFFFF"/>
                </a:solidFill>
              </a:rPr>
              <a:t>17.5 ms</a:t>
            </a:r>
          </a:p>
        </p:txBody>
      </p:sp>
      <p:sp>
        <p:nvSpPr>
          <p:cNvPr id="31" name="Rectangle 30"/>
          <p:cNvSpPr/>
          <p:nvPr/>
        </p:nvSpPr>
        <p:spPr>
          <a:xfrm>
            <a:off x="4498848"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35424" y="2668741"/>
            <a:ext cx="1335024" cy="534270"/>
          </a:xfrm>
          <a:prstGeom prst="rect">
            <a:avLst/>
          </a:prstGeom>
          <a:noFill/>
        </p:spPr>
        <p:txBody>
          <a:bodyPr wrap="square">
            <a:spAutoFit/>
          </a:bodyPr>
          <a:lstStyle/>
          <a:p>
            <a:pPr algn="ctr"/>
            <a:r>
              <a:rPr sz="1400" b="0" i="0">
                <a:solidFill>
                  <a:srgbClr val="FFFFFF"/>
                </a:solidFill>
              </a:rPr>
              <a:t>edge1 ✓</a:t>
            </a:r>
          </a:p>
        </p:txBody>
      </p:sp>
      <p:sp>
        <p:nvSpPr>
          <p:cNvPr id="33" name="Rectangle 32"/>
          <p:cNvSpPr/>
          <p:nvPr/>
        </p:nvSpPr>
        <p:spPr>
          <a:xfrm>
            <a:off x="5907024" y="2632165"/>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0" y="2668741"/>
            <a:ext cx="1335024" cy="534270"/>
          </a:xfrm>
          <a:prstGeom prst="rect">
            <a:avLst/>
          </a:prstGeom>
          <a:noFill/>
        </p:spPr>
        <p:txBody>
          <a:bodyPr wrap="square">
            <a:spAutoFit/>
          </a:bodyPr>
          <a:lstStyle/>
          <a:p>
            <a:pPr algn="ctr"/>
            <a:r>
              <a:rPr sz="1400" b="0" i="0">
                <a:solidFill>
                  <a:srgbClr val="FFFFFF"/>
                </a:solidFill>
              </a:rPr>
              <a:t>edge1</a:t>
            </a:r>
          </a:p>
        </p:txBody>
      </p:sp>
      <p:sp>
        <p:nvSpPr>
          <p:cNvPr id="35" name="Rectangle 34"/>
          <p:cNvSpPr/>
          <p:nvPr/>
        </p:nvSpPr>
        <p:spPr>
          <a:xfrm>
            <a:off x="274320"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3276164"/>
            <a:ext cx="1335024" cy="534270"/>
          </a:xfrm>
          <a:prstGeom prst="rect">
            <a:avLst/>
          </a:prstGeom>
          <a:noFill/>
        </p:spPr>
        <p:txBody>
          <a:bodyPr wrap="square">
            <a:spAutoFit/>
          </a:bodyPr>
          <a:lstStyle/>
          <a:p>
            <a:pPr algn="ctr"/>
            <a:r>
              <a:rPr sz="1400" b="0" i="0">
                <a:solidFill>
                  <a:srgbClr val="FFFFFF"/>
                </a:solidFill>
              </a:rPr>
              <a:t>40</a:t>
            </a:r>
          </a:p>
        </p:txBody>
      </p:sp>
      <p:sp>
        <p:nvSpPr>
          <p:cNvPr id="37" name="Rectangle 36"/>
          <p:cNvSpPr/>
          <p:nvPr/>
        </p:nvSpPr>
        <p:spPr>
          <a:xfrm>
            <a:off x="1682496"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9072" y="3276164"/>
            <a:ext cx="1335024" cy="534270"/>
          </a:xfrm>
          <a:prstGeom prst="rect">
            <a:avLst/>
          </a:prstGeom>
          <a:noFill/>
        </p:spPr>
        <p:txBody>
          <a:bodyPr wrap="square">
            <a:spAutoFit/>
          </a:bodyPr>
          <a:lstStyle/>
          <a:p>
            <a:pPr algn="ctr"/>
            <a:r>
              <a:rPr sz="1400" b="0" i="0">
                <a:solidFill>
                  <a:srgbClr val="FFFFFF"/>
                </a:solidFill>
              </a:rPr>
              <a:t>14.5 ms</a:t>
            </a:r>
          </a:p>
        </p:txBody>
      </p:sp>
      <p:sp>
        <p:nvSpPr>
          <p:cNvPr id="39" name="Rectangle 38"/>
          <p:cNvSpPr/>
          <p:nvPr/>
        </p:nvSpPr>
        <p:spPr>
          <a:xfrm>
            <a:off x="3090672"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27248" y="3276164"/>
            <a:ext cx="1335024" cy="534270"/>
          </a:xfrm>
          <a:prstGeom prst="rect">
            <a:avLst/>
          </a:prstGeom>
          <a:noFill/>
        </p:spPr>
        <p:txBody>
          <a:bodyPr wrap="square">
            <a:spAutoFit/>
          </a:bodyPr>
          <a:lstStyle/>
          <a:p>
            <a:pPr algn="ctr"/>
            <a:r>
              <a:rPr sz="1400" b="0" i="0">
                <a:solidFill>
                  <a:srgbClr val="FFFFFF"/>
                </a:solidFill>
              </a:rPr>
              <a:t>21 ms</a:t>
            </a:r>
          </a:p>
        </p:txBody>
      </p:sp>
      <p:sp>
        <p:nvSpPr>
          <p:cNvPr id="41" name="Rectangle 40"/>
          <p:cNvSpPr/>
          <p:nvPr/>
        </p:nvSpPr>
        <p:spPr>
          <a:xfrm>
            <a:off x="4498848"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35424" y="3276164"/>
            <a:ext cx="1335024" cy="534270"/>
          </a:xfrm>
          <a:prstGeom prst="rect">
            <a:avLst/>
          </a:prstGeom>
          <a:noFill/>
        </p:spPr>
        <p:txBody>
          <a:bodyPr wrap="square">
            <a:spAutoFit/>
          </a:bodyPr>
          <a:lstStyle/>
          <a:p>
            <a:pPr algn="ctr"/>
            <a:r>
              <a:rPr sz="1400" b="0" i="0">
                <a:solidFill>
                  <a:srgbClr val="FFFFFF"/>
                </a:solidFill>
              </a:rPr>
              <a:t>edge1 ✓</a:t>
            </a:r>
          </a:p>
        </p:txBody>
      </p:sp>
      <p:sp>
        <p:nvSpPr>
          <p:cNvPr id="43" name="Rectangle 42"/>
          <p:cNvSpPr/>
          <p:nvPr/>
        </p:nvSpPr>
        <p:spPr>
          <a:xfrm>
            <a:off x="5907024" y="3239588"/>
            <a:ext cx="1408176" cy="607422"/>
          </a:xfrm>
          <a:prstGeom prst="rect">
            <a:avLst/>
          </a:prstGeom>
          <a:solidFill>
            <a:srgbClr val="102238"/>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0" y="3276164"/>
            <a:ext cx="1335024" cy="534270"/>
          </a:xfrm>
          <a:prstGeom prst="rect">
            <a:avLst/>
          </a:prstGeom>
          <a:noFill/>
        </p:spPr>
        <p:txBody>
          <a:bodyPr wrap="square">
            <a:spAutoFit/>
          </a:bodyPr>
          <a:lstStyle/>
          <a:p>
            <a:pPr algn="ctr"/>
            <a:r>
              <a:rPr sz="1400" b="0" i="0">
                <a:solidFill>
                  <a:srgbClr val="FFFFFF"/>
                </a:solidFill>
              </a:rPr>
              <a:t>edge1</a:t>
            </a:r>
          </a:p>
        </p:txBody>
      </p:sp>
      <p:sp>
        <p:nvSpPr>
          <p:cNvPr id="45" name="Rectangle 44"/>
          <p:cNvSpPr/>
          <p:nvPr/>
        </p:nvSpPr>
        <p:spPr>
          <a:xfrm>
            <a:off x="274320"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896" y="3883587"/>
            <a:ext cx="1335024" cy="534270"/>
          </a:xfrm>
          <a:prstGeom prst="rect">
            <a:avLst/>
          </a:prstGeom>
          <a:noFill/>
        </p:spPr>
        <p:txBody>
          <a:bodyPr wrap="square">
            <a:spAutoFit/>
          </a:bodyPr>
          <a:lstStyle/>
          <a:p>
            <a:pPr algn="ctr"/>
            <a:r>
              <a:rPr sz="1400" b="0" i="0">
                <a:solidFill>
                  <a:srgbClr val="FFFFFF"/>
                </a:solidFill>
              </a:rPr>
              <a:t>60</a:t>
            </a:r>
          </a:p>
        </p:txBody>
      </p:sp>
      <p:sp>
        <p:nvSpPr>
          <p:cNvPr id="47" name="Rectangle 46"/>
          <p:cNvSpPr/>
          <p:nvPr/>
        </p:nvSpPr>
        <p:spPr>
          <a:xfrm>
            <a:off x="1682496"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719072" y="3883587"/>
            <a:ext cx="1335024" cy="534270"/>
          </a:xfrm>
          <a:prstGeom prst="rect">
            <a:avLst/>
          </a:prstGeom>
          <a:noFill/>
        </p:spPr>
        <p:txBody>
          <a:bodyPr wrap="square">
            <a:spAutoFit/>
          </a:bodyPr>
          <a:lstStyle/>
          <a:p>
            <a:pPr algn="ctr"/>
            <a:r>
              <a:rPr sz="1400" b="0" i="0">
                <a:solidFill>
                  <a:srgbClr val="FFFFFF"/>
                </a:solidFill>
              </a:rPr>
              <a:t>7.7 s</a:t>
            </a:r>
          </a:p>
        </p:txBody>
      </p:sp>
      <p:sp>
        <p:nvSpPr>
          <p:cNvPr id="49" name="Rectangle 48"/>
          <p:cNvSpPr/>
          <p:nvPr/>
        </p:nvSpPr>
        <p:spPr>
          <a:xfrm>
            <a:off x="3090672"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27248" y="3883587"/>
            <a:ext cx="1335024" cy="534270"/>
          </a:xfrm>
          <a:prstGeom prst="rect">
            <a:avLst/>
          </a:prstGeom>
          <a:noFill/>
        </p:spPr>
        <p:txBody>
          <a:bodyPr wrap="square">
            <a:spAutoFit/>
          </a:bodyPr>
          <a:lstStyle/>
          <a:p>
            <a:pPr algn="ctr"/>
            <a:r>
              <a:rPr sz="1400" b="0" i="0">
                <a:solidFill>
                  <a:srgbClr val="FFFFFF"/>
                </a:solidFill>
              </a:rPr>
              <a:t>23 ms</a:t>
            </a:r>
          </a:p>
        </p:txBody>
      </p:sp>
      <p:sp>
        <p:nvSpPr>
          <p:cNvPr id="51" name="Rectangle 50"/>
          <p:cNvSpPr/>
          <p:nvPr/>
        </p:nvSpPr>
        <p:spPr>
          <a:xfrm>
            <a:off x="4498848"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35424" y="3883587"/>
            <a:ext cx="1335024" cy="534270"/>
          </a:xfrm>
          <a:prstGeom prst="rect">
            <a:avLst/>
          </a:prstGeom>
          <a:noFill/>
        </p:spPr>
        <p:txBody>
          <a:bodyPr wrap="square">
            <a:spAutoFit/>
          </a:bodyPr>
          <a:lstStyle/>
          <a:p>
            <a:pPr algn="ctr"/>
            <a:r>
              <a:rPr sz="1400" b="0" i="0">
                <a:solidFill>
                  <a:srgbClr val="FFFFFF"/>
                </a:solidFill>
              </a:rPr>
              <a:t>edge1 ✗</a:t>
            </a:r>
          </a:p>
        </p:txBody>
      </p:sp>
      <p:sp>
        <p:nvSpPr>
          <p:cNvPr id="53" name="Rectangle 52"/>
          <p:cNvSpPr/>
          <p:nvPr/>
        </p:nvSpPr>
        <p:spPr>
          <a:xfrm>
            <a:off x="5907024" y="3847011"/>
            <a:ext cx="1408176" cy="607422"/>
          </a:xfrm>
          <a:prstGeom prst="rect">
            <a:avLst/>
          </a:prstGeom>
          <a:solidFill>
            <a:srgbClr val="0D1B2A"/>
          </a:solidFill>
          <a:ln w="3810">
            <a:solidFill>
              <a:srgbClr val="8AA0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0" y="3883587"/>
            <a:ext cx="1335024" cy="534270"/>
          </a:xfrm>
          <a:prstGeom prst="rect">
            <a:avLst/>
          </a:prstGeom>
          <a:noFill/>
        </p:spPr>
        <p:txBody>
          <a:bodyPr wrap="square">
            <a:spAutoFit/>
          </a:bodyPr>
          <a:lstStyle/>
          <a:p>
            <a:pPr algn="ctr"/>
            <a:r>
              <a:rPr sz="1400" b="0" i="0">
                <a:solidFill>
                  <a:srgbClr val="FFFFFF"/>
                </a:solidFill>
              </a:rPr>
              <a:t>edge2</a:t>
            </a:r>
          </a:p>
        </p:txBody>
      </p:sp>
      <p:sp>
        <p:nvSpPr>
          <p:cNvPr id="75" name="Rectangle 74"/>
          <p:cNvSpPr/>
          <p:nvPr/>
        </p:nvSpPr>
        <p:spPr>
          <a:xfrm>
            <a:off x="7498079" y="1417320"/>
            <a:ext cx="4343400" cy="274320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662671" y="1554480"/>
            <a:ext cx="4014216" cy="2468880"/>
          </a:xfrm>
          <a:prstGeom prst="rect">
            <a:avLst/>
          </a:prstGeom>
          <a:noFill/>
        </p:spPr>
        <p:txBody>
          <a:bodyPr wrap="square">
            <a:spAutoFit/>
          </a:bodyPr>
          <a:lstStyle/>
          <a:p>
            <a:pPr algn="l"/>
            <a:r>
              <a:rPr sz="1700" b="1">
                <a:solidFill>
                  <a:srgbClr val="FFD600"/>
                </a:solidFill>
              </a:rPr>
              <a:t>Key finding</a:t>
            </a:r>
          </a:p>
          <a:p>
            <a:pPr algn="l"/>
            <a:r>
              <a:rPr sz="1600">
                <a:solidFill>
                  <a:srgbClr val="FFFFFF"/>
                </a:solidFill>
              </a:rPr>
              <a:t>▸ Model ranks by distance alone: edge1 (5 ms) always first</a:t>
            </a:r>
          </a:p>
          <a:p>
            <a:pPr algn="l"/>
            <a:r>
              <a:rPr sz="1600">
                <a:solidFill>
                  <a:srgbClr val="FFFFFF"/>
                </a:solidFill>
              </a:rPr>
              <a:t>▸ At 60 players edge1 is 330x worse than edge2</a:t>
            </a:r>
          </a:p>
          <a:p>
            <a:pPr algn="l"/>
            <a:r>
              <a:rPr sz="1600">
                <a:solidFill>
                  <a:srgbClr val="FFFFFF"/>
                </a:solidFill>
              </a:rPr>
              <a:t>▸ Regret on the worst player: 7.66 s</a:t>
            </a:r>
          </a:p>
          <a:p>
            <a:pPr algn="l"/>
            <a:r>
              <a:rPr sz="1600">
                <a:solidFill>
                  <a:srgbClr val="FFFFFF"/>
                </a:solidFill>
              </a:rPr>
              <a:t>▸ Queueing and learned models switch to edge2 at 60: zero regret</a:t>
            </a:r>
          </a:p>
        </p:txBody>
      </p:sp>
      <p:pic>
        <p:nvPicPr>
          <p:cNvPr id="77" name="Picture 76" descr="fig1_p95_vs_players.png"/>
          <p:cNvPicPr>
            <a:picLocks noChangeAspect="1"/>
          </p:cNvPicPr>
          <p:nvPr/>
        </p:nvPicPr>
        <p:blipFill>
          <a:blip r:embed="rId3"/>
          <a:stretch>
            <a:fillRect/>
          </a:stretch>
        </p:blipFill>
        <p:spPr>
          <a:xfrm>
            <a:off x="7498079" y="4206240"/>
            <a:ext cx="3721395" cy="2286000"/>
          </a:xfrm>
          <a:prstGeom prst="rect">
            <a:avLst/>
          </a:prstGeom>
        </p:spPr>
      </p:pic>
      <p:sp>
        <p:nvSpPr>
          <p:cNvPr id="78" name="TextBox 7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IV ·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Dataset and the Learned Predictor vs Analytical Formula</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Three latency models, each scored on replicates it was not fitted on</a:t>
            </a:r>
          </a:p>
        </p:txBody>
      </p:sp>
      <p:sp>
        <p:nvSpPr>
          <p:cNvPr id="5" name="Rectangle 4"/>
          <p:cNvSpPr/>
          <p:nvPr/>
        </p:nvSpPr>
        <p:spPr>
          <a:xfrm>
            <a:off x="274320" y="1417320"/>
            <a:ext cx="4800000" cy="51663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554480"/>
            <a:ext cx="4480000" cy="4900000"/>
          </a:xfrm>
          <a:prstGeom prst="rect">
            <a:avLst/>
          </a:prstGeom>
          <a:noFill/>
        </p:spPr>
        <p:txBody>
          <a:bodyPr wrap="square">
            <a:spAutoFit/>
          </a:bodyPr>
          <a:lstStyle/>
          <a:p>
            <a:pPr algn="l"/>
            <a:r>
              <a:rPr sz="1900" b="1">
                <a:solidFill>
                  <a:srgbClr val="00C2B2"/>
                </a:solidFill>
              </a:rPr>
              <a:t>Dataset and models</a:t>
            </a:r>
          </a:p>
          <a:p>
            <a:pPr algn="l"/>
            <a:r>
              <a:rPr sz="1800">
                <a:solidFill>
                  <a:srgbClr val="FFFFFF"/>
                </a:solidFill>
              </a:rPr>
              <a:t>▸ Dataset: 150 cells, 450 rows of 30 s windows (4 grid replicates + 2 deployment rounds)</a:t>
            </a:r>
          </a:p>
          <a:p>
            <a:pPr algn="l"/>
            <a:r>
              <a:rPr sz="1800">
                <a:solidFill>
                  <a:srgbClr val="FFFFFF"/>
                </a:solidFill>
              </a:rPr>
              <a:t>▸ Analytical: RTT + size/bandwidth, no load term</a:t>
            </a:r>
          </a:p>
          <a:p>
            <a:pPr algn="l"/>
            <a:r>
              <a:rPr sz="1800">
                <a:solidFill>
                  <a:srgbClr val="FFFFFF"/>
                </a:solidFill>
              </a:rPr>
              <a:t>▸ Queueing (M/M/1): RTT + s/(1−u), s fitted = 2.4 ms</a:t>
            </a:r>
          </a:p>
          <a:p>
            <a:pPr algn="l"/>
            <a:r>
              <a:rPr sz="1800">
                <a:solidFill>
                  <a:srgbClr val="FFFFFF"/>
                </a:solidFill>
              </a:rPr>
              <a:t>▸ Learned: RTT + gradient-boosted trees on utilization, players, cores</a:t>
            </a:r>
          </a:p>
          <a:p>
            <a:pPr algn="l"/>
            <a:r>
              <a:rPr sz="1800">
                <a:solidFill>
                  <a:srgbClr val="FFFFFF"/>
                </a:solidFill>
              </a:rPr>
              <a:t>▸ Fit on one replicate, test on the other: median abs error 5.8 / 1.8 / 0.9 ms (analytical / queueing / learned)</a:t>
            </a:r>
          </a:p>
          <a:p>
            <a:pPr algn="l"/>
            <a:r>
              <a:rPr sz="1800">
                <a:solidFill>
                  <a:srgbClr val="FFFFFF"/>
                </a:solidFill>
              </a:rPr>
              <a:t>▸ Fit on both, test on two held-out replicates: 6.9 / 2.2 / 1.1 ms; F1 at 50 ms 0.00 / 0.60 / 0.86</a:t>
            </a:r>
          </a:p>
          <a:p>
            <a:pPr algn="l"/>
            <a:r>
              <a:rPr sz="1800">
                <a:solidFill>
                  <a:srgbClr val="FFFFFF"/>
                </a:solidFill>
              </a:rPr>
              <a:t>▸ Held out, learned vs queueing is within noise (95% interval -4.2 to +0.1 ms)</a:t>
            </a:r>
          </a:p>
        </p:txBody>
      </p:sp>
      <p:pic>
        <p:nvPicPr>
          <p:cNvPr id="7" name="Picture 6" descr="fig4_predicted_vs_measured.png"/>
          <p:cNvPicPr>
            <a:picLocks noChangeAspect="1"/>
          </p:cNvPicPr>
          <p:nvPr/>
        </p:nvPicPr>
        <p:blipFill>
          <a:blip r:embed="rId3"/>
          <a:stretch>
            <a:fillRect/>
          </a:stretch>
        </p:blipFill>
        <p:spPr>
          <a:xfrm>
            <a:off x="5250000" y="2300000"/>
            <a:ext cx="6640000" cy="2390400"/>
          </a:xfrm>
          <a:prstGeom prst="rect">
            <a:avLst/>
          </a:prstGeom>
        </p:spPr>
      </p:pic>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IV ·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Placement Algorithms Compared on Worst-Player Latency</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Each model's optimal placement deployed for real, all nodes loaded at once</a:t>
            </a:r>
          </a:p>
        </p:txBody>
      </p:sp>
      <p:sp>
        <p:nvSpPr>
          <p:cNvPr id="5" name="Rectangle 4"/>
          <p:cNvSpPr/>
          <p:nvPr/>
        </p:nvSpPr>
        <p:spPr>
          <a:xfrm>
            <a:off x="274320" y="1417320"/>
            <a:ext cx="5200000" cy="51663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554480"/>
            <a:ext cx="4880000" cy="4900000"/>
          </a:xfrm>
          <a:prstGeom prst="rect">
            <a:avLst/>
          </a:prstGeom>
          <a:noFill/>
        </p:spPr>
        <p:txBody>
          <a:bodyPr wrap="square">
            <a:spAutoFit/>
          </a:bodyPr>
          <a:lstStyle/>
          <a:p>
            <a:pPr algn="l"/>
            <a:r>
              <a:rPr sz="1900" b="1">
                <a:solidFill>
                  <a:srgbClr val="00C2B2"/>
                </a:solidFill>
              </a:rPr>
              <a:t>Worst player's measured p95, round 1 / round 2</a:t>
            </a:r>
          </a:p>
          <a:p>
            <a:pPr algn="l"/>
            <a:r>
              <a:rPr sz="1800">
                <a:solidFill>
                  <a:srgbClr val="FFFFFF"/>
                </a:solidFill>
              </a:rPr>
              <a:t>▸ 40 players: all three 26 / 16 ms</a:t>
            </a:r>
          </a:p>
          <a:p>
            <a:pPr algn="l"/>
            <a:r>
              <a:rPr sz="1800">
                <a:solidFill>
                  <a:srgbClr val="FFFFFF"/>
                </a:solidFill>
              </a:rPr>
              <a:t>▸ 80: analytical 29.9 / 28.2 s · queueing 20 / 20 ms · learned 20 / 20 ms</a:t>
            </a:r>
          </a:p>
          <a:p>
            <a:pPr algn="l"/>
            <a:r>
              <a:rPr sz="1800">
                <a:solidFill>
                  <a:srgbClr val="FFFFFF"/>
                </a:solidFill>
              </a:rPr>
              <a:t>▸ 120: analytical 17.8 / 18.7 s · queueing 31 / 37 ms · learned 32 / 32 ms</a:t>
            </a:r>
          </a:p>
          <a:p>
            <a:pPr algn="l"/>
            <a:r>
              <a:rPr sz="1800">
                <a:solidFill>
                  <a:srgbClr val="FFFFFF"/>
                </a:solidFill>
              </a:rPr>
              <a:t>▸ 160: analytical 20.0 / 28.3 s · queueing 35 / 40 ms · learned 39 / 55 ms</a:t>
            </a:r>
          </a:p>
          <a:p>
            <a:pPr algn="l"/>
            <a:r>
              <a:rPr sz="1800">
                <a:solidFill>
                  <a:srgbClr val="FFFFFF"/>
                </a:solidFill>
              </a:rPr>
              <a:t>▸ Graded by its own formula, as a simulator would, the load-blind placement looks best (5–15 ms)</a:t>
            </a:r>
          </a:p>
          <a:p>
            <a:pPr algn="l"/>
            <a:r>
              <a:rPr sz="1800">
                <a:solidFill>
                  <a:srgbClr val="FFFFFF"/>
                </a:solidFill>
              </a:rPr>
              <a:t>▸ Deployed: 500–1500x worse; the overloaded edge1 held only 43–71 of its 80–100 players</a:t>
            </a:r>
          </a:p>
          <a:p>
            <a:pPr algn="l"/>
            <a:r>
              <a:rPr sz="1800">
                <a:solidFill>
                  <a:srgbClr val="FFFFFF"/>
                </a:solidFill>
              </a:rPr>
              <a:t>▸ Learned predicts best, but places almost the same as fitted M/M/1</a:t>
            </a:r>
          </a:p>
        </p:txBody>
      </p:sp>
      <p:pic>
        <p:nvPicPr>
          <p:cNvPr id="7" name="Picture 6" descr="fig5_deployments.png"/>
          <p:cNvPicPr>
            <a:picLocks noChangeAspect="1"/>
          </p:cNvPicPr>
          <p:nvPr/>
        </p:nvPicPr>
        <p:blipFill>
          <a:blip r:embed="rId3"/>
          <a:stretch>
            <a:fillRect/>
          </a:stretch>
        </p:blipFill>
        <p:spPr>
          <a:xfrm>
            <a:off x="5650000" y="1900000"/>
            <a:ext cx="6240000" cy="3833143"/>
          </a:xfrm>
          <a:prstGeom prst="rect">
            <a:avLst/>
          </a:prstGeom>
        </p:spPr>
      </p:pic>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IV · RESULTS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Live Controller on the Real Testbed</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Same 13-minute schedule of players under each controller; one match moved at most every 10 s</a:t>
            </a:r>
          </a:p>
        </p:txBody>
      </p:sp>
      <p:sp>
        <p:nvSpPr>
          <p:cNvPr id="5" name="Rectangle 4"/>
          <p:cNvSpPr/>
          <p:nvPr/>
        </p:nvSpPr>
        <p:spPr>
          <a:xfrm>
            <a:off x="274320" y="1417320"/>
            <a:ext cx="5200000" cy="51663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554480"/>
            <a:ext cx="4880000" cy="4900000"/>
          </a:xfrm>
          <a:prstGeom prst="rect">
            <a:avLst/>
          </a:prstGeom>
          <a:noFill/>
        </p:spPr>
        <p:txBody>
          <a:bodyPr wrap="square">
            <a:spAutoFit/>
          </a:bodyPr>
          <a:lstStyle/>
          <a:p>
            <a:pPr algn="l"/>
            <a:r>
              <a:rPr sz="1900" b="1">
                <a:solidFill>
                  <a:srgbClr val="00C2B2"/>
                </a:solidFill>
              </a:rPr>
              <a:t>Worst-off players, median of 3 runs each</a:t>
            </a:r>
          </a:p>
          <a:p>
            <a:pPr algn="l"/>
            <a:r>
              <a:rPr sz="1800">
                <a:solidFill>
                  <a:srgbClr val="FFFFFF"/>
                </a:solidFill>
              </a:rPr>
              <a:t>▸ Load-blind formula: 1.1 s (76 ms to 4.5 s), over 100 ms 53% of the time, never moves a match</a:t>
            </a:r>
          </a:p>
          <a:p>
            <a:pPr algn="l"/>
            <a:r>
              <a:rPr sz="1800">
                <a:solidFill>
                  <a:srgbClr val="FFFFFF"/>
                </a:solidFill>
              </a:rPr>
              <a:t>▸ Queueing (M/M/1): 99 ms (72 to 166), 50%: loads edge2 to 80 players, past its knee, in every run</a:t>
            </a:r>
          </a:p>
          <a:p>
            <a:pPr algn="l"/>
            <a:r>
              <a:rPr sz="1800">
                <a:solidFill>
                  <a:srgbClr val="FFFFFF"/>
                </a:solidFill>
              </a:rPr>
              <a:t>▸ Learned model: 39 ms (33 to 47), 33%: stops edge2 at 70 and uses edge3, in every run</a:t>
            </a:r>
          </a:p>
          <a:p>
            <a:pPr algn="l"/>
            <a:r>
              <a:rPr sz="1800">
                <a:solidFill>
                  <a:srgbClr val="FFFFFF"/>
                </a:solidFill>
              </a:rPr>
              <a:t>▸ Learned, corrected live: 33 ms (32 to 34), 8%, with 15 moves: more caution, fewer bad moments</a:t>
            </a:r>
          </a:p>
          <a:p>
            <a:pPr algn="l"/>
            <a:r>
              <a:rPr sz="1800">
                <a:solidFill>
                  <a:srgbClr val="FFFFFF"/>
                </a:solidFill>
              </a:rPr>
              <a:t>▸ 10–16 moves for the load-aware controllers (load-blind: 0), 6 s to reconnect</a:t>
            </a:r>
          </a:p>
          <a:p>
            <a:pPr algn="l"/>
            <a:r>
              <a:rPr sz="1800">
                <a:solidFill>
                  <a:srgbClr val="FFFFFF"/>
                </a:solidFill>
              </a:rPr>
              <a:t>▸ Learned's remaining time over budget: edge1 at 40 players, just below its knee</a:t>
            </a:r>
          </a:p>
        </p:txBody>
      </p:sp>
      <p:pic>
        <p:nvPicPr>
          <p:cNvPr id="7" name="Picture 6" descr="fig6_live_ab.png"/>
          <p:cNvPicPr>
            <a:picLocks noChangeAspect="1"/>
          </p:cNvPicPr>
          <p:nvPr/>
        </p:nvPicPr>
        <p:blipFill>
          <a:blip r:embed="rId2"/>
          <a:stretch>
            <a:fillRect/>
          </a:stretch>
        </p:blipFill>
        <p:spPr>
          <a:xfrm>
            <a:off x="5650000" y="1700000"/>
            <a:ext cx="6240000" cy="4056000"/>
          </a:xfrm>
          <a:prstGeom prst="rect">
            <a:avLst/>
          </a:prstGeom>
        </p:spPr>
      </p:pic>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IV · RESULTS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A Node Gets Slower and No Model Is Told</a:t>
            </a:r>
          </a:p>
        </p:txBody>
      </p:sp>
      <p:sp>
        <p:nvSpPr>
          <p:cNvPr id="4" name="TextBox 3"/>
          <p:cNvSpPr txBox="1"/>
          <p:nvPr/>
        </p:nvSpPr>
        <p:spPr>
          <a:xfrm>
            <a:off x="274320" y="914400"/>
            <a:ext cx="11704320" cy="365760"/>
          </a:xfrm>
          <a:prstGeom prst="rect">
            <a:avLst/>
          </a:prstGeom>
          <a:noFill/>
        </p:spPr>
        <p:txBody>
          <a:bodyPr wrap="square">
            <a:spAutoFit/>
          </a:bodyPr>
          <a:lstStyle/>
          <a:p>
            <a:pPr algn="l"/>
            <a:r>
              <a:rPr sz="1500" b="0" i="1">
                <a:solidFill>
                  <a:srgbClr val="00C2B2"/>
                </a:solidFill>
              </a:rPr>
              <a:t>edge1's CPU cut from 0.5 to 0.25 cores at 220 s; the controller only sees measurements</a:t>
            </a:r>
          </a:p>
        </p:txBody>
      </p:sp>
      <p:sp>
        <p:nvSpPr>
          <p:cNvPr id="5" name="Rectangle 4"/>
          <p:cNvSpPr/>
          <p:nvPr/>
        </p:nvSpPr>
        <p:spPr>
          <a:xfrm>
            <a:off x="274320" y="1417320"/>
            <a:ext cx="5200000" cy="516636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554480"/>
            <a:ext cx="4880000" cy="4900000"/>
          </a:xfrm>
          <a:prstGeom prst="rect">
            <a:avLst/>
          </a:prstGeom>
          <a:noFill/>
        </p:spPr>
        <p:txBody>
          <a:bodyPr wrap="square">
            <a:spAutoFit/>
          </a:bodyPr>
          <a:lstStyle/>
          <a:p>
            <a:pPr algn="l"/>
            <a:r>
              <a:rPr sz="1900" b="1">
                <a:solidFill>
                  <a:srgbClr val="00C2B2"/>
                </a:solidFill>
              </a:rPr>
              <a:t>After the cut</a:t>
            </a:r>
          </a:p>
          <a:p>
            <a:pPr algn="l"/>
            <a:r>
              <a:rPr sz="1800">
                <a:solidFill>
                  <a:srgbClr val="FFFFFF"/>
                </a:solidFill>
              </a:rPr>
              <a:t>▸ Queueing and offline learned keep 40 players on the slowed edge1 (6 runs)</a:t>
            </a:r>
          </a:p>
          <a:p>
            <a:pPr algn="l"/>
            <a:r>
              <a:rPr sz="1800">
                <a:solidFill>
                  <a:srgbClr val="FFFFFF"/>
                </a:solidFill>
              </a:rPr>
              <a:t>▸ They are over 100 ms 99–100% of the time after the cut</a:t>
            </a:r>
          </a:p>
          <a:p>
            <a:pPr algn="l"/>
            <a:r>
              <a:rPr sz="1800">
                <a:solidFill>
                  <a:srgbClr val="FFFFFF"/>
                </a:solidFill>
              </a:rPr>
              <a:t>▸ Corrected live, with memory: 6% after the cut (4 to 13%, 3 runs), 8–12 moves</a:t>
            </a:r>
          </a:p>
          <a:p>
            <a:pPr algn="l"/>
            <a:r>
              <a:rPr sz="1800">
                <a:solidFill>
                  <a:srgbClr val="FFFFFF"/>
                </a:solidFill>
              </a:rPr>
              <a:t>▸ Caveat: it learns from players logging in, so in 2 of 3 runs edge1 was already near empty at the cut</a:t>
            </a:r>
          </a:p>
          <a:p>
            <a:pPr algn="l"/>
            <a:r>
              <a:rPr sz="1800">
                <a:solidFill>
                  <a:srgbClr val="FFFFFF"/>
                </a:solidFill>
              </a:rPr>
              <a:t>▸ Clean detection: 30 players at the cut, a match moved off 27 s later</a:t>
            </a:r>
          </a:p>
        </p:txBody>
      </p:sp>
      <p:pic>
        <p:nvPicPr>
          <p:cNvPr id="7" name="Picture 6" descr="fig7_live_capacity_drop.png"/>
          <p:cNvPicPr>
            <a:picLocks noChangeAspect="1"/>
          </p:cNvPicPr>
          <p:nvPr/>
        </p:nvPicPr>
        <p:blipFill>
          <a:blip r:embed="rId2"/>
          <a:stretch>
            <a:fillRect/>
          </a:stretch>
        </p:blipFill>
        <p:spPr>
          <a:xfrm>
            <a:off x="5650000" y="1550000"/>
            <a:ext cx="6250000" cy="5000000"/>
          </a:xfrm>
          <a:prstGeom prst="rect">
            <a:avLst/>
          </a:prstGeom>
        </p:spPr>
      </p:pic>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IV · RESULTS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Limitations</a:t>
            </a:r>
          </a:p>
        </p:txBody>
      </p:sp>
      <p:sp>
        <p:nvSpPr>
          <p:cNvPr id="4" name="Rectangle 3"/>
          <p:cNvSpPr/>
          <p:nvPr/>
        </p:nvSpPr>
        <p:spPr>
          <a:xfrm>
            <a:off x="274320" y="1417320"/>
            <a:ext cx="5760720" cy="507492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1554480"/>
            <a:ext cx="5431536" cy="4800600"/>
          </a:xfrm>
          <a:prstGeom prst="rect">
            <a:avLst/>
          </a:prstGeom>
          <a:noFill/>
        </p:spPr>
        <p:txBody>
          <a:bodyPr wrap="square">
            <a:spAutoFit/>
          </a:bodyPr>
          <a:lstStyle/>
          <a:p>
            <a:pPr algn="l"/>
            <a:r>
              <a:rPr sz="1800" b="1">
                <a:solidFill>
                  <a:srgbClr val="00C2B2"/>
                </a:solidFill>
              </a:rPr>
              <a:t>Scope</a:t>
            </a:r>
          </a:p>
          <a:p>
            <a:pPr algn="l"/>
            <a:r>
              <a:rPr sz="1700">
                <a:solidFill>
                  <a:srgbClr val="FFFFFF"/>
                </a:solidFill>
              </a:rPr>
              <a:t>▸ One host: bootstrap intervals cover cells, not whole replicates (only four)</a:t>
            </a:r>
          </a:p>
          <a:p>
            <a:pPr algn="l"/>
            <a:r>
              <a:rPr sz="1700">
                <a:solidFill>
                  <a:srgbClr val="FFFFFF"/>
                </a:solidFill>
              </a:rPr>
              <a:t>▸ Capacities and delays were chosen to create the trade-off</a:t>
            </a:r>
          </a:p>
          <a:p>
            <a:pPr algn="l"/>
            <a:r>
              <a:rPr sz="1700">
                <a:solidFill>
                  <a:srgbClr val="FFFFFF"/>
                </a:solidFill>
              </a:rPr>
              <a:t>▸ Bots, not humans; hostile mobs disabled</a:t>
            </a:r>
          </a:p>
          <a:p>
            <a:pPr algn="l"/>
            <a:r>
              <a:rPr sz="1700">
                <a:solidFill>
                  <a:srgbClr val="FFFFFF"/>
                </a:solidFill>
              </a:rPr>
              <a:t>▸ A move is a reconnect (about 6 s), not a state handover</a:t>
            </a:r>
          </a:p>
          <a:p>
            <a:pPr algn="l"/>
            <a:r>
              <a:rPr sz="1700">
                <a:solidFill>
                  <a:srgbClr val="FFFFFF"/>
                </a:solidFill>
              </a:rPr>
              <a:t>▸ Live: 3 runs per controller, wide ranges; direction, not effect sizes</a:t>
            </a:r>
          </a:p>
        </p:txBody>
      </p:sp>
      <p:sp>
        <p:nvSpPr>
          <p:cNvPr id="6" name="Rectangle 5"/>
          <p:cNvSpPr/>
          <p:nvPr/>
        </p:nvSpPr>
        <p:spPr>
          <a:xfrm>
            <a:off x="6217920" y="1417320"/>
            <a:ext cx="5669280" cy="507492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554480"/>
            <a:ext cx="5340096" cy="4800600"/>
          </a:xfrm>
          <a:prstGeom prst="rect">
            <a:avLst/>
          </a:prstGeom>
          <a:noFill/>
        </p:spPr>
        <p:txBody>
          <a:bodyPr wrap="square">
            <a:spAutoFit/>
          </a:bodyPr>
          <a:lstStyle/>
          <a:p>
            <a:pPr algn="l"/>
            <a:r>
              <a:rPr sz="1800" b="1">
                <a:solidFill>
                  <a:srgbClr val="00C2B2"/>
                </a:solidFill>
              </a:rPr>
              <a:t>Measurement</a:t>
            </a:r>
          </a:p>
          <a:p>
            <a:pPr algn="l"/>
            <a:r>
              <a:rPr sz="1700">
                <a:solidFill>
                  <a:srgbClr val="FFFFFF"/>
                </a:solidFill>
              </a:rPr>
              <a:t>▸ Knees are unstable: replicates differ 6–80x there</a:t>
            </a:r>
          </a:p>
          <a:p>
            <a:pPr algn="l"/>
            <a:r>
              <a:rPr sz="1700">
                <a:solidFill>
                  <a:srgbClr val="FFFFFF"/>
                </a:solidFill>
              </a:rPr>
              <a:t>▸ Host power mode changes capacity 2–3x: all clean runs in Performance mode</a:t>
            </a:r>
          </a:p>
          <a:p>
            <a:pPr algn="l"/>
            <a:r>
              <a:rPr sz="1700">
                <a:solidFill>
                  <a:srgbClr val="FFFFFF"/>
                </a:solidFill>
              </a:rPr>
              <a:t>▸ edge3 and cloud never pushed past their knee (100-player ceiling)</a:t>
            </a:r>
          </a:p>
          <a:p>
            <a:pPr algn="l"/>
            <a:r>
              <a:rPr sz="1700">
                <a:solidFill>
                  <a:srgbClr val="FFFFFF"/>
                </a:solidFill>
              </a:rPr>
              <a:t>▸ Bandwidth term negligible: links carry no background traffic</a:t>
            </a:r>
          </a:p>
        </p:txBody>
      </p:sp>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V · CONCLUSION AND FUTURE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Conclusion and Future Work</a:t>
            </a:r>
          </a:p>
        </p:txBody>
      </p:sp>
      <p:sp>
        <p:nvSpPr>
          <p:cNvPr id="4" name="Rectangle 3"/>
          <p:cNvSpPr/>
          <p:nvPr/>
        </p:nvSpPr>
        <p:spPr>
          <a:xfrm>
            <a:off x="274320" y="1417320"/>
            <a:ext cx="11612880" cy="297180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1554480"/>
            <a:ext cx="11283696" cy="2697480"/>
          </a:xfrm>
          <a:prstGeom prst="rect">
            <a:avLst/>
          </a:prstGeom>
          <a:noFill/>
        </p:spPr>
        <p:txBody>
          <a:bodyPr wrap="square">
            <a:spAutoFit/>
          </a:bodyPr>
          <a:lstStyle/>
          <a:p>
            <a:pPr algn="l"/>
            <a:r>
              <a:rPr sz="1800" b="1">
                <a:solidFill>
                  <a:srgbClr val="00C2B2"/>
                </a:solidFill>
              </a:rPr>
              <a:t>What this work shows</a:t>
            </a:r>
          </a:p>
          <a:p>
            <a:pPr algn="l"/>
            <a:r>
              <a:rPr sz="1700">
                <a:solidFill>
                  <a:srgbClr val="FFFFFF"/>
                </a:solidFill>
              </a:rPr>
              <a:t>▸ The load-blind formula is right only below a node's saturation point</a:t>
            </a:r>
          </a:p>
          <a:p>
            <a:pPr algn="l"/>
            <a:r>
              <a:rPr sz="1700">
                <a:solidFill>
                  <a:srgbClr val="FFFFFF"/>
                </a:solidFill>
              </a:rPr>
              <a:t>▸ Above it the error is seconds: 18–30 s worst-player latency, deployed</a:t>
            </a:r>
          </a:p>
          <a:p>
            <a:pPr algn="l"/>
            <a:r>
              <a:rPr sz="1700">
                <a:solidFill>
                  <a:srgbClr val="FFFFFF"/>
                </a:solidFill>
              </a:rPr>
              <a:t>▸ Load-aware placement keeps the same players at 16–55 ms</a:t>
            </a:r>
          </a:p>
          <a:p>
            <a:pPr algn="l"/>
            <a:r>
              <a:rPr sz="1700">
                <a:solidFill>
                  <a:srgbClr val="FFFFFF"/>
                </a:solidFill>
              </a:rPr>
              <a:t>▸ Live, 3 runs each: the formula never moves a match; the learned controller's median is 39 ms</a:t>
            </a:r>
          </a:p>
          <a:p>
            <a:pPr algn="l"/>
            <a:r>
              <a:rPr sz="1700">
                <a:solidFill>
                  <a:srgbClr val="FFFFFF"/>
                </a:solidFill>
              </a:rPr>
              <a:t>▸ Utilization alone is not enough: live, M/M/1 overloaded edge2 in all 3 runs, the learned model in none</a:t>
            </a:r>
          </a:p>
        </p:txBody>
      </p:sp>
      <p:sp>
        <p:nvSpPr>
          <p:cNvPr id="6" name="Rectangle 5"/>
          <p:cNvSpPr/>
          <p:nvPr/>
        </p:nvSpPr>
        <p:spPr>
          <a:xfrm>
            <a:off x="274320" y="4572000"/>
            <a:ext cx="11612880" cy="20116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8912" y="4709160"/>
            <a:ext cx="11283696" cy="1737360"/>
          </a:xfrm>
          <a:prstGeom prst="rect">
            <a:avLst/>
          </a:prstGeom>
          <a:noFill/>
        </p:spPr>
        <p:txBody>
          <a:bodyPr wrap="square">
            <a:spAutoFit/>
          </a:bodyPr>
          <a:lstStyle/>
          <a:p>
            <a:pPr algn="l"/>
            <a:r>
              <a:rPr sz="1800" b="1">
                <a:solidFill>
                  <a:srgbClr val="7B61FF"/>
                </a:solidFill>
              </a:rPr>
              <a:t>Future work</a:t>
            </a:r>
          </a:p>
          <a:p>
            <a:pPr algn="l"/>
            <a:r>
              <a:rPr sz="1700">
                <a:solidFill>
                  <a:srgbClr val="FFFFFF"/>
                </a:solidFill>
              </a:rPr>
              <a:t>▸ More replicates on a dedicated host, intervals on the knees</a:t>
            </a:r>
          </a:p>
          <a:p>
            <a:pPr algn="l"/>
            <a:r>
              <a:rPr sz="1700">
                <a:solidFill>
                  <a:srgbClr val="FFFFFF"/>
                </a:solidFill>
              </a:rPr>
              <a:t>▸ State handover instead of reconnect; place new matches with the model</a:t>
            </a:r>
          </a:p>
          <a:p>
            <a:pPr algn="l"/>
            <a:r>
              <a:rPr sz="1700">
                <a:solidFill>
                  <a:srgbClr val="FFFFFF"/>
                </a:solidFill>
              </a:rPr>
              <a:t>▸ Jitter, loss and bandwidth caps; mob AI back as a second load source</a:t>
            </a:r>
          </a:p>
        </p:txBody>
      </p:sp>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V · CONCLUSION AND FUTURE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Implementation</a:t>
            </a:r>
          </a:p>
        </p:txBody>
      </p:sp>
      <p:sp>
        <p:nvSpPr>
          <p:cNvPr id="4" name="Rectangle 3"/>
          <p:cNvSpPr/>
          <p:nvPr/>
        </p:nvSpPr>
        <p:spPr>
          <a:xfrm>
            <a:off x="274320" y="1417320"/>
            <a:ext cx="5760720" cy="507492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1554480"/>
            <a:ext cx="5431536" cy="4800600"/>
          </a:xfrm>
          <a:prstGeom prst="rect">
            <a:avLst/>
          </a:prstGeom>
          <a:noFill/>
        </p:spPr>
        <p:txBody>
          <a:bodyPr wrap="square">
            <a:spAutoFit/>
          </a:bodyPr>
          <a:lstStyle/>
          <a:p>
            <a:pPr algn="l"/>
            <a:r>
              <a:rPr sz="1800" b="1">
                <a:solidFill>
                  <a:srgbClr val="00C2B2"/>
                </a:solidFill>
              </a:rPr>
              <a:t>Testbed and measurement</a:t>
            </a:r>
          </a:p>
          <a:p>
            <a:pPr algn="l"/>
            <a:r>
              <a:rPr sz="1700">
                <a:solidFill>
                  <a:srgbClr val="FFFFFF"/>
                </a:solidFill>
              </a:rPr>
              <a:t>▸ containerlab topology, tc netem delays, cgroup cpu.max quotas on disjoint cores</a:t>
            </a:r>
          </a:p>
          <a:p>
            <a:pPr algn="l"/>
            <a:r>
              <a:rPr sz="1700">
                <a:solidFill>
                  <a:srgbClr val="FFFFFF"/>
                </a:solidFill>
              </a:rPr>
              <a:t>▸ Paper 1.21.4 servers; topology/verify.sh checks links, RTT, CPU limits, power mode</a:t>
            </a:r>
          </a:p>
          <a:p>
            <a:pPr algn="l"/>
            <a:r>
              <a:rPr sz="1700">
                <a:solidFill>
                  <a:srgbClr val="FFFFFF"/>
                </a:solidFill>
              </a:rPr>
              <a:t>▸ bots/bot.js: mineflayer bots, 10 per process; probe.js: TCP and status ping</a:t>
            </a:r>
          </a:p>
          <a:p>
            <a:pPr algn="l"/>
            <a:r>
              <a:rPr sz="1700">
                <a:solidFill>
                  <a:srgbClr val="FFFFFF"/>
                </a:solidFill>
              </a:rPr>
              <a:t>▸ collect.sh, grid.sh: one cell = settle, baseline, joins, 90 s steady window</a:t>
            </a:r>
          </a:p>
        </p:txBody>
      </p:sp>
      <p:sp>
        <p:nvSpPr>
          <p:cNvPr id="6" name="Rectangle 5"/>
          <p:cNvSpPr/>
          <p:nvPr/>
        </p:nvSpPr>
        <p:spPr>
          <a:xfrm>
            <a:off x="6217920" y="1417320"/>
            <a:ext cx="5669280" cy="507492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554480"/>
            <a:ext cx="5340096" cy="4800600"/>
          </a:xfrm>
          <a:prstGeom prst="rect">
            <a:avLst/>
          </a:prstGeom>
          <a:noFill/>
        </p:spPr>
        <p:txBody>
          <a:bodyPr wrap="square">
            <a:spAutoFit/>
          </a:bodyPr>
          <a:lstStyle/>
          <a:p>
            <a:pPr algn="l"/>
            <a:r>
              <a:rPr sz="1800" b="1">
                <a:solidFill>
                  <a:srgbClr val="00C2B2"/>
                </a:solidFill>
              </a:rPr>
              <a:t>Analysis and live system</a:t>
            </a:r>
          </a:p>
          <a:p>
            <a:pPr algn="l"/>
            <a:r>
              <a:rPr sz="1700">
                <a:solidFill>
                  <a:srgbClr val="FFFFFF"/>
                </a:solidFill>
              </a:rPr>
              <a:t>▸ build_dataset.py: 150 cells, 450 rows of 30 s windows</a:t>
            </a:r>
          </a:p>
          <a:p>
            <a:pPr algn="l"/>
            <a:r>
              <a:rPr sz="1700">
                <a:solidFill>
                  <a:srgbClr val="FFFFFF"/>
                </a:solidFill>
              </a:rPr>
              <a:t>▸ models.py: three models behind one predict(node, players)</a:t>
            </a:r>
          </a:p>
          <a:p>
            <a:pPr algn="l"/>
            <a:r>
              <a:rPr sz="1700">
                <a:solidFill>
                  <a:srgbClr val="FFFFFF"/>
                </a:solidFill>
              </a:rPr>
              <a:t>▸ experiment.py: exhaustive placement search; deploy_plan.sh deploys it</a:t>
            </a:r>
          </a:p>
          <a:p>
            <a:pPr algn="l"/>
            <a:r>
              <a:rPr sz="1700">
                <a:solidFill>
                  <a:srgbClr val="FFFFFF"/>
                </a:solidFill>
              </a:rPr>
              <a:t>▸ live/: 2 s controller loop, browser dashboard, 29 unit tests</a:t>
            </a:r>
          </a:p>
          <a:p>
            <a:pPr algn="l"/>
            <a:r>
              <a:rPr sz="1700">
                <a:solidFill>
                  <a:srgbClr val="FFFFFF"/>
                </a:solidFill>
              </a:rPr>
              <a:t>▸ rebuild.sh: every table and figure rebuilt from the raw data</a:t>
            </a:r>
          </a:p>
        </p:txBody>
      </p:sp>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III · IMPLEMENTATION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C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11704320" cy="822960"/>
          </a:xfrm>
          <a:prstGeom prst="rect">
            <a:avLst/>
          </a:prstGeom>
          <a:noFill/>
        </p:spPr>
        <p:txBody>
          <a:bodyPr wrap="square">
            <a:spAutoFit/>
          </a:bodyPr>
          <a:lstStyle/>
          <a:p>
            <a:pPr algn="l"/>
            <a:r>
              <a:rPr sz="3200" b="1" i="0">
                <a:solidFill>
                  <a:srgbClr val="FFFFFF"/>
                </a:solidFill>
              </a:rPr>
              <a:t>Abstract</a:t>
            </a:r>
          </a:p>
        </p:txBody>
      </p:sp>
      <p:sp>
        <p:nvSpPr>
          <p:cNvPr id="4" name="Rectangle 3"/>
          <p:cNvSpPr/>
          <p:nvPr/>
        </p:nvSpPr>
        <p:spPr>
          <a:xfrm>
            <a:off x="457200" y="1371600"/>
            <a:ext cx="11247120" cy="2011680"/>
          </a:xfrm>
          <a:prstGeom prst="rect">
            <a:avLst/>
          </a:prstGeom>
          <a:solidFill>
            <a:srgbClr val="071828"/>
          </a:solidFill>
          <a:ln w="25400">
            <a:solidFill>
              <a:srgbClr val="7B61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10881360" cy="1737360"/>
          </a:xfrm>
          <a:prstGeom prst="rect">
            <a:avLst/>
          </a:prstGeom>
          <a:noFill/>
        </p:spPr>
        <p:txBody>
          <a:bodyPr wrap="square">
            <a:spAutoFit/>
          </a:bodyPr>
          <a:lstStyle/>
          <a:p>
            <a:pPr algn="ctr"/>
            <a:r>
              <a:rPr sz="2300" b="0" i="0">
                <a:solidFill>
                  <a:srgbClr val="FFFFFF"/>
                </a:solidFill>
              </a:rPr>
              <a:t>Edge placement algorithms choose a node with a latency formula that has no term for server load, and are usually evaluated in simulators built on the same formula. We measure the error on a real testbed: four CPU-capped game servers, protocol-level bots, latency measured at four depths at once, and each model's placement deployed for real and run as a live controller.</a:t>
            </a:r>
          </a:p>
        </p:txBody>
      </p:sp>
      <p:sp>
        <p:nvSpPr>
          <p:cNvPr id="6" name="Rectangle 5"/>
          <p:cNvSpPr/>
          <p:nvPr/>
        </p:nvSpPr>
        <p:spPr>
          <a:xfrm>
            <a:off x="457200" y="3566160"/>
            <a:ext cx="11247120" cy="2926080"/>
          </a:xfrm>
          <a:prstGeom prst="rect">
            <a:avLst/>
          </a:prstGeom>
          <a:solidFill>
            <a:srgbClr val="102238"/>
          </a:solidFill>
          <a:ln w="15240">
            <a:solidFill>
              <a:srgbClr val="00C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3703320"/>
            <a:ext cx="10917936" cy="2651760"/>
          </a:xfrm>
          <a:prstGeom prst="rect">
            <a:avLst/>
          </a:prstGeom>
          <a:noFill/>
        </p:spPr>
        <p:txBody>
          <a:bodyPr wrap="square">
            <a:spAutoFit/>
          </a:bodyPr>
          <a:lstStyle/>
          <a:p>
            <a:pPr algn="l"/>
            <a:r>
              <a:rPr sz="2000" b="1">
                <a:solidFill>
                  <a:srgbClr val="00C2B2"/>
                </a:solidFill>
              </a:rPr>
              <a:t>Key results</a:t>
            </a:r>
          </a:p>
          <a:p>
            <a:pPr algn="l"/>
            <a:r>
              <a:rPr sz="1900">
                <a:solidFill>
                  <a:srgbClr val="FFFFFF"/>
                </a:solidFill>
              </a:rPr>
              <a:t>▸ Network delay stays within 0.3 ms at any load; the smallest node's p95 goes from 15 ms to 6.7–8.6 s</a:t>
            </a:r>
          </a:p>
          <a:p>
            <a:pPr algn="l"/>
            <a:r>
              <a:rPr sz="1900">
                <a:solidFill>
                  <a:srgbClr val="FFFFFF"/>
                </a:solidFill>
              </a:rPr>
              <a:t>▸ Deployed, the load-blind placement leaves the worst players at 18–30 s; load-aware placements 16–55 ms</a:t>
            </a:r>
          </a:p>
          <a:p>
            <a:pPr algn="l"/>
            <a:r>
              <a:rPr sz="1900">
                <a:solidFill>
                  <a:srgbClr val="FFFFFF"/>
                </a:solidFill>
              </a:rPr>
              <a:t>▸ The learned model predicts best (0.9 ms median error, 1.1 ms held out) but places like a fitted M/M/1</a:t>
            </a:r>
          </a:p>
          <a:p>
            <a:pPr algn="l"/>
            <a:r>
              <a:rPr sz="1900">
                <a:solidFill>
                  <a:srgbClr val="FFFFFF"/>
                </a:solidFill>
              </a:rPr>
              <a:t>▸ Live, 3 runs each: formula 1.1 s, M/M/1 99 ms, learned 39 ms, learned corrected live 33 ms</a:t>
            </a:r>
          </a:p>
        </p:txBody>
      </p:sp>
      <p:sp>
        <p:nvSpPr>
          <p:cNvPr id="8" name="TextBox 7"/>
          <p:cNvSpPr txBox="1"/>
          <p:nvPr/>
        </p:nvSpPr>
        <p:spPr>
          <a:xfrm>
            <a:off x="7342632" y="60000"/>
            <a:ext cx="4572000" cy="300000"/>
          </a:xfrm>
          <a:prstGeom prst="rect">
            <a:avLst/>
          </a:prstGeom>
          <a:noFill/>
        </p:spPr>
        <p:txBody>
          <a:bodyPr wrap="none">
            <a:spAutoFit/>
          </a:bodyPr>
          <a:lstStyle/>
          <a:p>
            <a:pPr algn="r"/>
            <a:r>
              <a:rPr sz="1100" b="1">
                <a:solidFill>
                  <a:srgbClr val="00C2B2"/>
                </a:solidFill>
              </a:rPr>
              <a:t>ABSTRACT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Latency-Aware Edge Game Server Placement</dc:title>
  <dc:subject/>
  <dc:creator>Ankam Charan Teja, Aranya Roy, Nikhil Kumar Reddy, Yashvardhan Deep, Akshit Singh</dc:creator>
  <cp:keywords/>
  <dc:description>generated using python-pptx</dc:description>
  <cp:lastModifiedBy/>
  <cp:revision>1</cp:revision>
  <dcterms:created xsi:type="dcterms:W3CDTF">2013-01-27T09:14:16Z</dcterms:created>
  <dcterms:modified xsi:type="dcterms:W3CDTF">2013-01-27T09:15:58Z</dcterms:modified>
  <cp:category/>
</cp:coreProperties>
</file>