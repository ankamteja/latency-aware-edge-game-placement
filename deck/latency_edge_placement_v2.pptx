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This talk is about a mismatch between how edge placement algorithms choose a server node and what players actually experience when that node gets busy.</a:t>
            </a:r>
          </a:p>
          <a:p>
            <a:r>
              <a:t>Repository: github.com/ankamteja/latency-aware-edge-game-placement.</a:t>
            </a:r>
          </a:p>
          <a:p>
            <a:r>
              <a:t>10-minute slot — one idea per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navigation routing by distance only. The shortest road is not always the fastest — traffic matters.</a:t>
            </a:r>
          </a:p>
          <a:p>
            <a:r>
              <a:t>Edge placement makes the same mistake. The standard formula measures propagation delay and link bandwidth but knows nothing about how many players are already on the node.</a:t>
            </a:r>
          </a:p>
          <a:p>
            <a:r>
              <a:t>Edge nodes are small and capped. Once crowded, queueing inside the game thread exceeds the network advantage. The nearest node becomes the worst choice.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formula has two terms: propagation (distance) and transmission (bandwidth). Both are network properties. The server is treated as instantaneous.</a:t>
            </a:r>
          </a:p>
          <a:p>
            <a:r>
              <a:t>At low load that is fine. At high load the game's main tick loop queues work — every player action waits for the previous tick. This queueing delay can be hundreds of milliseconds, dwarfing the 5 ms propagation advantage.</a:t>
            </a:r>
          </a:p>
          <a:p>
            <a:r>
              <a:t>The deeper problem: placement research evaluates algorithms in simulators built on this same formula. The omitted term never appears, so the error is never noticed.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can we measure the error the formula ignores and use that measurement to make better placement decisions?</a:t>
            </a:r>
          </a:p>
          <a:p>
            <a:r>
              <a:t>Four sub-goals drive the experimental design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testbed runs entirely on one physical machine. Containerlab creates virtual network paths with precisely controlled latency.</a:t>
            </a:r>
          </a:p>
          <a:p>
            <a:r>
              <a:t>Each node runs a real Minecraft Paper server, capped to its CPU quota via Linux cgroups. Bots use the mineflayer library — actual game protocol, not HTTP.</a:t>
            </a:r>
          </a:p>
          <a:p>
            <a:r>
              <a:t>This lets us measure game-thread latency, not synthetic web-request latency.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probes run concurrently on the same link under the same load — so delay can be attributed to a layer, not guessed.</a:t>
            </a:r>
          </a:p>
          <a:p>
            <a:r>
              <a:t>Probe 1 is the formula's prediction. Every millisecond between probe 1 and probe 4 is model error.</a:t>
            </a:r>
          </a:p>
          <a:p>
            <a:r>
              <a:t>Measurement result: ICMP barely moved (5.07–5.10 ms at any load). In-game p95 RTT went from 11 ms at 1 player to 6248 ms at 40 players — a 570× increase on the same link, caused entirely by the game thread.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replicates of the grid, time of day frozen, idle host. Each cell is 90 s of steady load. The network round trip is flat everywhere; the latency growth is all inside the server. The point to make: mean tick time looks healthy while the tail is already breaking. At the knee the two replicates disagree a lot (edge2 at 80: 34 ms vs 2.7 s), which is why we quote a range there. Source: docs/08-results.md section 8.2.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single-match version of the question. Table: measured p95, mean of both replicates. The figure shows every node; the dashed lines are what the load-blind formula predicts, flat at the network RTT. Honest framing: the inversion appears between 40 and 60 players on this testbed because we chose 0.5 core and 5 ms; the claim is that it exists and is large, not the exact player count. Source: 08-results 8.3.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is the artifact: every row is a measured window, not a formula output. Splits are by replicate, never by row. Read the figure: points on the diagonal are correct predictions. Analytical is a flat line per node, it cannot see load. Queueing is good in the flat part but explodes near the knee (the dots at the top). Learned follows the diagonal best. Source: results/model/summary.md, 08-results 8.4.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end-to-end test. For 40 to 160 players in matches of 10, each model's brute-force optimum was computed and then deployed on the testbed with every loaded node running at once. The clock grades the models, not the models themselves. The analytical model predicted 5-15 ms for all of these. Be careful with the last bullet: the learned model does not place better than the queueing model here. Source: results/placement/deployments.csv, 08-results 8.5.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number on the previous slides comes with these limits. The contended run is the most interesting one: the host itself became the load the model is blind to. Source: 08-results 8.6.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deployed numbers, they are the strongest evidence. Repo, raw data and dataset: github.com/ankamteja/latency-aware-edge-game-placement.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88952" cy="9144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1064240" cy="1554480"/>
          </a:xfrm>
          <a:prstGeom prst="rect">
            <a:avLst/>
          </a:prstGeom>
          <a:noFill/>
        </p:spPr>
        <p:txBody>
          <a:bodyPr wrap="square">
            <a:spAutoFit/>
          </a:bodyPr>
          <a:lstStyle/>
          <a:p>
            <a:pPr algn="ctr"/>
            <a:r>
              <a:rPr sz="4200" b="1" i="0">
                <a:solidFill>
                  <a:srgbClr val="FFFFFF"/>
                </a:solidFill>
              </a:rPr>
              <a:t>Latency-Aware Edge Game Server Placement</a:t>
            </a:r>
          </a:p>
        </p:txBody>
      </p:sp>
      <p:sp>
        <p:nvSpPr>
          <p:cNvPr id="5" name="TextBox 4"/>
          <p:cNvSpPr txBox="1"/>
          <p:nvPr/>
        </p:nvSpPr>
        <p:spPr>
          <a:xfrm>
            <a:off x="548640" y="2926080"/>
            <a:ext cx="11064240" cy="1005840"/>
          </a:xfrm>
          <a:prstGeom prst="rect">
            <a:avLst/>
          </a:prstGeom>
          <a:noFill/>
        </p:spPr>
        <p:txBody>
          <a:bodyPr wrap="square">
            <a:spAutoFit/>
          </a:bodyPr>
          <a:lstStyle/>
          <a:p>
            <a:pPr algn="ctr"/>
            <a:r>
              <a:rPr sz="2100" b="0" i="1">
                <a:solidFill>
                  <a:srgbClr val="00C2B2"/>
                </a:solidFill>
              </a:rPr>
              <a:t>Measuring how server load breaks the analytical latency model
used in edge placement decisions</a:t>
            </a:r>
          </a:p>
        </p:txBody>
      </p:sp>
      <p:sp>
        <p:nvSpPr>
          <p:cNvPr id="6" name="Rectangle 5"/>
          <p:cNvSpPr/>
          <p:nvPr/>
        </p:nvSpPr>
        <p:spPr>
          <a:xfrm>
            <a:off x="4023360" y="4069080"/>
            <a:ext cx="4114800" cy="36576"/>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297680"/>
            <a:ext cx="11064240" cy="457200"/>
          </a:xfrm>
          <a:prstGeom prst="rect">
            <a:avLst/>
          </a:prstGeom>
          <a:noFill/>
        </p:spPr>
        <p:txBody>
          <a:bodyPr wrap="square">
            <a:spAutoFit/>
          </a:bodyPr>
          <a:lstStyle/>
          <a:p>
            <a:pPr algn="ctr"/>
            <a:r>
              <a:rPr sz="1700" b="0" i="0">
                <a:solidFill>
                  <a:srgbClr val="8AA0B8"/>
                </a:solidFill>
              </a:rPr>
              <a:t>Ankam Charan Teja  ·  Aranya Roy  ·  Aadhar  ·  Nikhil  ·  Yash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The Problem: Nearest Is Not Always Fastest</a:t>
            </a:r>
          </a:p>
        </p:txBody>
      </p:sp>
      <p:sp>
        <p:nvSpPr>
          <p:cNvPr id="4" name="TextBox 3"/>
          <p:cNvSpPr txBox="1"/>
          <p:nvPr/>
        </p:nvSpPr>
        <p:spPr>
          <a:xfrm>
            <a:off x="274320" y="914400"/>
            <a:ext cx="11704320" cy="365760"/>
          </a:xfrm>
          <a:prstGeom prst="rect">
            <a:avLst/>
          </a:prstGeom>
          <a:noFill/>
        </p:spPr>
        <p:txBody>
          <a:bodyPr wrap="square">
            <a:spAutoFit/>
          </a:bodyPr>
          <a:lstStyle/>
          <a:p>
            <a:pPr algn="l"/>
            <a:r>
              <a:rPr sz="1500" b="0" i="1">
                <a:solidFill>
                  <a:srgbClr val="00C2B2"/>
                </a:solidFill>
              </a:rPr>
              <a:t>A navigation analogy — routing blind to traffic</a:t>
            </a:r>
          </a:p>
        </p:txBody>
      </p:sp>
      <p:sp>
        <p:nvSpPr>
          <p:cNvPr id="5" name="Rectangle 4"/>
          <p:cNvSpPr/>
          <p:nvPr/>
        </p:nvSpPr>
        <p:spPr>
          <a:xfrm>
            <a:off x="274320" y="1463040"/>
            <a:ext cx="5394960" cy="429768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 y="1600200"/>
            <a:ext cx="5065776" cy="4023360"/>
          </a:xfrm>
          <a:prstGeom prst="rect">
            <a:avLst/>
          </a:prstGeom>
          <a:noFill/>
        </p:spPr>
        <p:txBody>
          <a:bodyPr wrap="square">
            <a:spAutoFit/>
          </a:bodyPr>
          <a:lstStyle/>
          <a:p>
            <a:pPr algn="l"/>
            <a:r>
              <a:rPr sz="1800" b="1">
                <a:solidFill>
                  <a:srgbClr val="FFD600"/>
                </a:solidFill>
              </a:rPr>
              <a:t>🗺  Maps without traffic</a:t>
            </a:r>
          </a:p>
          <a:p>
            <a:pPr algn="l"/>
            <a:r>
              <a:rPr sz="1700">
                <a:solidFill>
                  <a:srgbClr val="FFFFFF"/>
                </a:solidFill>
              </a:rPr>
              <a:t>▸ Your GPS picks the shortest route by distance</a:t>
            </a:r>
          </a:p>
          <a:p>
            <a:pPr algn="l"/>
            <a:r>
              <a:rPr sz="1700">
                <a:solidFill>
                  <a:srgbClr val="FFFFFF"/>
                </a:solidFill>
              </a:rPr>
              <a:t>▸ It does not see that the short road is jammed</a:t>
            </a:r>
          </a:p>
          <a:p>
            <a:pPr algn="l"/>
            <a:r>
              <a:rPr sz="1700">
                <a:solidFill>
                  <a:srgbClr val="FFFFFF"/>
                </a:solidFill>
              </a:rPr>
              <a:t>▸ You arrive later than if you had taken the longer road</a:t>
            </a:r>
          </a:p>
        </p:txBody>
      </p:sp>
      <p:sp>
        <p:nvSpPr>
          <p:cNvPr id="7" name="Rectangle 6"/>
          <p:cNvSpPr/>
          <p:nvPr/>
        </p:nvSpPr>
        <p:spPr>
          <a:xfrm>
            <a:off x="6035040" y="1463040"/>
            <a:ext cx="5852160" cy="429768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99632" y="1600200"/>
            <a:ext cx="5522976" cy="4023360"/>
          </a:xfrm>
          <a:prstGeom prst="rect">
            <a:avLst/>
          </a:prstGeom>
          <a:noFill/>
        </p:spPr>
        <p:txBody>
          <a:bodyPr wrap="square">
            <a:spAutoFit/>
          </a:bodyPr>
          <a:lstStyle/>
          <a:p>
            <a:pPr algn="l"/>
            <a:r>
              <a:rPr sz="1800" b="1">
                <a:solidFill>
                  <a:srgbClr val="00C2B2"/>
                </a:solidFill>
              </a:rPr>
              <a:t>🖧  Edge placement without load</a:t>
            </a:r>
          </a:p>
          <a:p>
            <a:pPr algn="l"/>
            <a:r>
              <a:rPr sz="1700">
                <a:solidFill>
                  <a:srgbClr val="FFFFFF"/>
                </a:solidFill>
              </a:rPr>
              <a:t>▸ The algorithm picks the nearest edge node</a:t>
            </a:r>
          </a:p>
          <a:p>
            <a:pPr algn="l"/>
            <a:r>
              <a:rPr sz="1700">
                <a:solidFill>
                  <a:srgbClr val="FFFFFF"/>
                </a:solidFill>
              </a:rPr>
              <a:t>▸ It uses only: propagation delay + packet size / bandwidth</a:t>
            </a:r>
          </a:p>
          <a:p>
            <a:pPr algn="l"/>
            <a:r>
              <a:rPr sz="1700">
                <a:solidFill>
                  <a:srgbClr val="FFFFFF"/>
                </a:solidFill>
              </a:rPr>
              <a:t>▸ It does not see that the node is nearly full</a:t>
            </a:r>
          </a:p>
          <a:p>
            <a:pPr algn="l"/>
            <a:r>
              <a:rPr sz="1700">
                <a:solidFill>
                  <a:srgbClr val="FFFFFF"/>
                </a:solidFill>
              </a:rPr>
              <a:t>▸ Players on a jammed edge node wait longer than on a distant cloud node</a:t>
            </a:r>
          </a:p>
        </p:txBody>
      </p:sp>
      <p:sp>
        <p:nvSpPr>
          <p:cNvPr id="9" name="TextBox 8"/>
          <p:cNvSpPr txBox="1"/>
          <p:nvPr/>
        </p:nvSpPr>
        <p:spPr>
          <a:xfrm>
            <a:off x="5577840" y="3291840"/>
            <a:ext cx="457200" cy="640080"/>
          </a:xfrm>
          <a:prstGeom prst="rect">
            <a:avLst/>
          </a:prstGeom>
          <a:noFill/>
        </p:spPr>
        <p:txBody>
          <a:bodyPr wrap="square">
            <a:spAutoFit/>
          </a:bodyPr>
          <a:lstStyle/>
          <a:p>
            <a:pPr algn="ctr"/>
            <a:r>
              <a:rPr sz="3600" b="1" i="0">
                <a:solidFill>
                  <a:srgbClr val="7B61FF"/>
                </a:solidFill>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The Load-Blind Formula — and Why Simulators Hide the Error</a:t>
            </a:r>
          </a:p>
        </p:txBody>
      </p:sp>
      <p:sp>
        <p:nvSpPr>
          <p:cNvPr id="4" name="TextBox 3"/>
          <p:cNvSpPr txBox="1"/>
          <p:nvPr/>
        </p:nvSpPr>
        <p:spPr>
          <a:xfrm>
            <a:off x="274320" y="914400"/>
            <a:ext cx="11704320" cy="365760"/>
          </a:xfrm>
          <a:prstGeom prst="rect">
            <a:avLst/>
          </a:prstGeom>
          <a:noFill/>
        </p:spPr>
        <p:txBody>
          <a:bodyPr wrap="square">
            <a:spAutoFit/>
          </a:bodyPr>
          <a:lstStyle/>
          <a:p>
            <a:pPr algn="l"/>
            <a:r>
              <a:rPr sz="1500" b="0" i="1">
                <a:solidFill>
                  <a:srgbClr val="00C2B2"/>
                </a:solidFill>
              </a:rPr>
              <a:t>latency = propagation_delay + data_size / bandwidth</a:t>
            </a:r>
          </a:p>
        </p:txBody>
      </p:sp>
      <p:sp>
        <p:nvSpPr>
          <p:cNvPr id="5" name="Rectangle 4"/>
          <p:cNvSpPr/>
          <p:nvPr/>
        </p:nvSpPr>
        <p:spPr>
          <a:xfrm>
            <a:off x="457200" y="1417320"/>
            <a:ext cx="11247120" cy="822960"/>
          </a:xfrm>
          <a:prstGeom prst="rect">
            <a:avLst/>
          </a:prstGeom>
          <a:solidFill>
            <a:srgbClr val="040D14"/>
          </a:solidFill>
          <a:ln w="22860">
            <a:solidFill>
              <a:srgbClr val="7B6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27048"/>
            <a:ext cx="10881360" cy="603504"/>
          </a:xfrm>
          <a:prstGeom prst="rect">
            <a:avLst/>
          </a:prstGeom>
          <a:noFill/>
        </p:spPr>
        <p:txBody>
          <a:bodyPr wrap="none">
            <a:spAutoFit/>
          </a:bodyPr>
          <a:lstStyle/>
          <a:p>
            <a:r>
              <a:rPr sz="2200" b="1">
                <a:solidFill>
                  <a:srgbClr val="00C2B2"/>
                </a:solidFill>
                <a:latin typeface="Courier New"/>
              </a:rPr>
              <a:t>latency  =  propagation_delay  +  data_size / bandwidth</a:t>
            </a:r>
          </a:p>
        </p:txBody>
      </p:sp>
      <p:sp>
        <p:nvSpPr>
          <p:cNvPr id="7" name="Rectangle 6"/>
          <p:cNvSpPr/>
          <p:nvPr/>
        </p:nvSpPr>
        <p:spPr>
          <a:xfrm>
            <a:off x="274320" y="2423160"/>
            <a:ext cx="5486400" cy="356616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560320"/>
            <a:ext cx="5157216" cy="3291840"/>
          </a:xfrm>
          <a:prstGeom prst="rect">
            <a:avLst/>
          </a:prstGeom>
          <a:noFill/>
        </p:spPr>
        <p:txBody>
          <a:bodyPr wrap="square">
            <a:spAutoFit/>
          </a:bodyPr>
          <a:lstStyle/>
          <a:p>
            <a:pPr algn="l"/>
            <a:r>
              <a:rPr sz="1800" b="1">
                <a:solidFill>
                  <a:srgbClr val="00C2B2"/>
                </a:solidFill>
              </a:rPr>
              <a:t>What the formula captures</a:t>
            </a:r>
          </a:p>
          <a:p>
            <a:pPr algn="l"/>
            <a:r>
              <a:rPr sz="1700">
                <a:solidFill>
                  <a:srgbClr val="FFFFFF"/>
                </a:solidFill>
              </a:rPr>
              <a:t>▸ Propagation delay: signal travel time over the physical link</a:t>
            </a:r>
          </a:p>
          <a:p>
            <a:pPr algn="l"/>
            <a:r>
              <a:rPr sz="1700">
                <a:solidFill>
                  <a:srgbClr val="FFFFFF"/>
                </a:solidFill>
              </a:rPr>
              <a:t>▸ data_size / bandwidth: time to transmit the packet</a:t>
            </a:r>
          </a:p>
          <a:p>
            <a:pPr algn="l"/>
            <a:r>
              <a:rPr sz="1700">
                <a:solidFill>
                  <a:srgbClr val="FFFFFF"/>
                </a:solidFill>
              </a:rPr>
              <a:t>▸ Both terms are network-only — server is assumed instantaneous</a:t>
            </a:r>
          </a:p>
          <a:p>
            <a:pPr algn="l"/>
            <a:r>
              <a:rPr sz="1700">
                <a:solidFill>
                  <a:srgbClr val="FFFFFF"/>
                </a:solidFill>
              </a:rPr>
              <a:t>▸ Accurate when the server has spare capacity</a:t>
            </a:r>
          </a:p>
        </p:txBody>
      </p:sp>
      <p:sp>
        <p:nvSpPr>
          <p:cNvPr id="9" name="Rectangle 8"/>
          <p:cNvSpPr/>
          <p:nvPr/>
        </p:nvSpPr>
        <p:spPr>
          <a:xfrm>
            <a:off x="6126480" y="2423160"/>
            <a:ext cx="5760720" cy="356616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91072" y="2560320"/>
            <a:ext cx="5431536" cy="3291840"/>
          </a:xfrm>
          <a:prstGeom prst="rect">
            <a:avLst/>
          </a:prstGeom>
          <a:noFill/>
        </p:spPr>
        <p:txBody>
          <a:bodyPr wrap="square">
            <a:spAutoFit/>
          </a:bodyPr>
          <a:lstStyle/>
          <a:p>
            <a:pPr algn="l"/>
            <a:r>
              <a:rPr sz="1800" b="1">
                <a:solidFill>
                  <a:srgbClr val="FFD600"/>
                </a:solidFill>
              </a:rPr>
              <a:t>What the formula misses</a:t>
            </a:r>
          </a:p>
          <a:p>
            <a:pPr algn="l"/>
            <a:r>
              <a:rPr sz="1700">
                <a:solidFill>
                  <a:srgbClr val="FFFFFF"/>
                </a:solidFill>
              </a:rPr>
              <a:t>▸ A loaded server queues every game tick — that delay is absent</a:t>
            </a:r>
          </a:p>
          <a:p>
            <a:pPr algn="l"/>
            <a:r>
              <a:rPr sz="1700">
                <a:solidFill>
                  <a:srgbClr val="FFFFFF"/>
                </a:solidFill>
              </a:rPr>
              <a:t>▸ Simulators that evaluate placement use the same formula</a:t>
            </a:r>
          </a:p>
          <a:p>
            <a:pPr algn="l"/>
            <a:r>
              <a:rPr sz="1700">
                <a:solidFill>
                  <a:srgbClr val="FFFFFF"/>
                </a:solidFill>
              </a:rPr>
              <a:t>▸ The model omits a term; the evaluator inherits the same gap</a:t>
            </a:r>
          </a:p>
          <a:p>
            <a:pPr algn="l"/>
            <a:r>
              <a:rPr sz="1700">
                <a:solidFill>
                  <a:srgbClr val="FFFFFF"/>
                </a:solidFill>
              </a:rPr>
              <a:t>▸ Error is invisible until measured on a real workload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Research Question</a:t>
            </a:r>
          </a:p>
        </p:txBody>
      </p:sp>
      <p:sp>
        <p:nvSpPr>
          <p:cNvPr id="4" name="Rectangle 3"/>
          <p:cNvSpPr/>
          <p:nvPr/>
        </p:nvSpPr>
        <p:spPr>
          <a:xfrm>
            <a:off x="457200" y="1371600"/>
            <a:ext cx="11247120" cy="2011680"/>
          </a:xfrm>
          <a:prstGeom prst="rect">
            <a:avLst/>
          </a:prstGeom>
          <a:solidFill>
            <a:srgbClr val="071828"/>
          </a:solidFill>
          <a:ln w="25400">
            <a:solidFill>
              <a:srgbClr val="7B6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08760"/>
            <a:ext cx="10881360" cy="1737360"/>
          </a:xfrm>
          <a:prstGeom prst="rect">
            <a:avLst/>
          </a:prstGeom>
          <a:noFill/>
        </p:spPr>
        <p:txBody>
          <a:bodyPr wrap="square">
            <a:spAutoFit/>
          </a:bodyPr>
          <a:lstStyle/>
          <a:p>
            <a:pPr algn="ctr"/>
            <a:r>
              <a:rPr sz="2300" b="0" i="0">
                <a:solidFill>
                  <a:srgbClr val="FFFFFF"/>
                </a:solidFill>
              </a:rPr>
              <a:t>How large is the gap between what the analytical formula predicts and what a player actually experiences when an edge node is under load — and can a predictor trained on measured data close it?</a:t>
            </a:r>
          </a:p>
        </p:txBody>
      </p:sp>
      <p:sp>
        <p:nvSpPr>
          <p:cNvPr id="6" name="Rectangle 5"/>
          <p:cNvSpPr/>
          <p:nvPr/>
        </p:nvSpPr>
        <p:spPr>
          <a:xfrm>
            <a:off x="457200" y="3566160"/>
            <a:ext cx="11247120" cy="292608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3703320"/>
            <a:ext cx="10917936" cy="2651760"/>
          </a:xfrm>
          <a:prstGeom prst="rect">
            <a:avLst/>
          </a:prstGeom>
          <a:noFill/>
        </p:spPr>
        <p:txBody>
          <a:bodyPr wrap="square">
            <a:spAutoFit/>
          </a:bodyPr>
          <a:lstStyle/>
          <a:p>
            <a:pPr algn="l"/>
            <a:r>
              <a:rPr sz="2000" b="1">
                <a:solidFill>
                  <a:srgbClr val="00C2B2"/>
                </a:solidFill>
              </a:rPr>
              <a:t>Sub-goals</a:t>
            </a:r>
          </a:p>
          <a:p>
            <a:pPr algn="l"/>
            <a:r>
              <a:rPr sz="1900">
                <a:solidFill>
                  <a:srgbClr val="FFFFFF"/>
                </a:solidFill>
              </a:rPr>
              <a:t>▸ Measure latency at four layers simultaneously on the same loaded node</a:t>
            </a:r>
          </a:p>
          <a:p>
            <a:pPr algn="l"/>
            <a:r>
              <a:rPr sz="1900">
                <a:solidFill>
                  <a:srgbClr val="FFFFFF"/>
                </a:solidFill>
              </a:rPr>
              <a:t>▸ Quantify model error as a function of player count</a:t>
            </a:r>
          </a:p>
          <a:p>
            <a:pPr algn="l"/>
            <a:r>
              <a:rPr sz="1900">
                <a:solidFill>
                  <a:srgbClr val="FFFFFF"/>
                </a:solidFill>
              </a:rPr>
              <a:t>▸ Train a data-driven predictor to replace the analytical formula</a:t>
            </a:r>
          </a:p>
          <a:p>
            <a:pPr algn="l"/>
            <a:r>
              <a:rPr sz="1900">
                <a:solidFill>
                  <a:srgbClr val="FFFFFF"/>
                </a:solidFill>
              </a:rPr>
              <a:t>▸ Show that load-aware placement changes which node wins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Testbed: Containerlab Edge-Cloud Topology</a:t>
            </a:r>
          </a:p>
        </p:txBody>
      </p:sp>
      <p:sp>
        <p:nvSpPr>
          <p:cNvPr id="4" name="TextBox 3"/>
          <p:cNvSpPr txBox="1"/>
          <p:nvPr/>
        </p:nvSpPr>
        <p:spPr>
          <a:xfrm>
            <a:off x="274320" y="914400"/>
            <a:ext cx="11704320" cy="365760"/>
          </a:xfrm>
          <a:prstGeom prst="rect">
            <a:avLst/>
          </a:prstGeom>
          <a:noFill/>
        </p:spPr>
        <p:txBody>
          <a:bodyPr wrap="square">
            <a:spAutoFit/>
          </a:bodyPr>
          <a:lstStyle/>
          <a:p>
            <a:pPr algn="l"/>
            <a:r>
              <a:rPr sz="1500" b="0" i="1">
                <a:solidFill>
                  <a:srgbClr val="00C2B2"/>
                </a:solidFill>
              </a:rPr>
              <a:t>Client + three edge nodes + cloud — all on one physical host</a:t>
            </a:r>
          </a:p>
        </p:txBody>
      </p:sp>
      <p:pic>
        <p:nvPicPr>
          <p:cNvPr id="5" name="Picture 4" descr="testbed_diagram_1792510506265.jpg"/>
          <p:cNvPicPr>
            <a:picLocks noChangeAspect="1"/>
          </p:cNvPicPr>
          <p:nvPr/>
        </p:nvPicPr>
        <p:blipFill>
          <a:blip r:embed="rId2"/>
          <a:stretch>
            <a:fillRect/>
          </a:stretch>
        </p:blipFill>
        <p:spPr>
          <a:xfrm>
            <a:off x="274320" y="1371600"/>
            <a:ext cx="7132320" cy="5212080"/>
          </a:xfrm>
          <a:prstGeom prst="rect">
            <a:avLst/>
          </a:prstGeom>
        </p:spPr>
      </p:pic>
      <p:sp>
        <p:nvSpPr>
          <p:cNvPr id="6" name="Rectangle 5"/>
          <p:cNvSpPr/>
          <p:nvPr/>
        </p:nvSpPr>
        <p:spPr>
          <a:xfrm>
            <a:off x="7635240" y="1554480"/>
            <a:ext cx="1402080" cy="475488"/>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71816" y="1591056"/>
            <a:ext cx="1328928" cy="402336"/>
          </a:xfrm>
          <a:prstGeom prst="rect">
            <a:avLst/>
          </a:prstGeom>
          <a:noFill/>
        </p:spPr>
        <p:txBody>
          <a:bodyPr wrap="square">
            <a:spAutoFit/>
          </a:bodyPr>
          <a:lstStyle/>
          <a:p>
            <a:pPr algn="ctr"/>
            <a:r>
              <a:rPr sz="1500" b="1" i="0">
                <a:solidFill>
                  <a:srgbClr val="0D1B2A"/>
                </a:solidFill>
              </a:rPr>
              <a:t>Node</a:t>
            </a:r>
          </a:p>
        </p:txBody>
      </p:sp>
      <p:sp>
        <p:nvSpPr>
          <p:cNvPr id="8" name="Rectangle 7"/>
          <p:cNvSpPr/>
          <p:nvPr/>
        </p:nvSpPr>
        <p:spPr>
          <a:xfrm>
            <a:off x="9037320" y="1554480"/>
            <a:ext cx="1402080" cy="475488"/>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73896" y="1591056"/>
            <a:ext cx="1328928" cy="402336"/>
          </a:xfrm>
          <a:prstGeom prst="rect">
            <a:avLst/>
          </a:prstGeom>
          <a:noFill/>
        </p:spPr>
        <p:txBody>
          <a:bodyPr wrap="square">
            <a:spAutoFit/>
          </a:bodyPr>
          <a:lstStyle/>
          <a:p>
            <a:pPr algn="ctr"/>
            <a:r>
              <a:rPr sz="1500" b="1" i="0">
                <a:solidFill>
                  <a:srgbClr val="0D1B2A"/>
                </a:solidFill>
              </a:rPr>
              <a:t>CPU cap</a:t>
            </a:r>
          </a:p>
        </p:txBody>
      </p:sp>
      <p:sp>
        <p:nvSpPr>
          <p:cNvPr id="10" name="Rectangle 9"/>
          <p:cNvSpPr/>
          <p:nvPr/>
        </p:nvSpPr>
        <p:spPr>
          <a:xfrm>
            <a:off x="10439400" y="1554480"/>
            <a:ext cx="1402080" cy="475488"/>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5976" y="1591056"/>
            <a:ext cx="1328928" cy="402336"/>
          </a:xfrm>
          <a:prstGeom prst="rect">
            <a:avLst/>
          </a:prstGeom>
          <a:noFill/>
        </p:spPr>
        <p:txBody>
          <a:bodyPr wrap="square">
            <a:spAutoFit/>
          </a:bodyPr>
          <a:lstStyle/>
          <a:p>
            <a:pPr algn="ctr"/>
            <a:r>
              <a:rPr sz="1500" b="1" i="0">
                <a:solidFill>
                  <a:srgbClr val="0D1B2A"/>
                </a:solidFill>
              </a:rPr>
              <a:t>RTT</a:t>
            </a:r>
          </a:p>
        </p:txBody>
      </p:sp>
      <p:sp>
        <p:nvSpPr>
          <p:cNvPr id="12" name="Rectangle 11"/>
          <p:cNvSpPr/>
          <p:nvPr/>
        </p:nvSpPr>
        <p:spPr>
          <a:xfrm>
            <a:off x="7635240" y="2029968"/>
            <a:ext cx="1402080" cy="4754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71816" y="2066544"/>
            <a:ext cx="1328928" cy="402336"/>
          </a:xfrm>
          <a:prstGeom prst="rect">
            <a:avLst/>
          </a:prstGeom>
          <a:noFill/>
        </p:spPr>
        <p:txBody>
          <a:bodyPr wrap="square">
            <a:spAutoFit/>
          </a:bodyPr>
          <a:lstStyle/>
          <a:p>
            <a:pPr algn="ctr"/>
            <a:r>
              <a:rPr sz="1400" b="0" i="0">
                <a:solidFill>
                  <a:srgbClr val="FFFFFF"/>
                </a:solidFill>
              </a:rPr>
              <a:t>edge1</a:t>
            </a:r>
          </a:p>
        </p:txBody>
      </p:sp>
      <p:sp>
        <p:nvSpPr>
          <p:cNvPr id="14" name="Rectangle 13"/>
          <p:cNvSpPr/>
          <p:nvPr/>
        </p:nvSpPr>
        <p:spPr>
          <a:xfrm>
            <a:off x="9037320" y="2029968"/>
            <a:ext cx="1402080" cy="4754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73896" y="2066544"/>
            <a:ext cx="1328928" cy="402336"/>
          </a:xfrm>
          <a:prstGeom prst="rect">
            <a:avLst/>
          </a:prstGeom>
          <a:noFill/>
        </p:spPr>
        <p:txBody>
          <a:bodyPr wrap="square">
            <a:spAutoFit/>
          </a:bodyPr>
          <a:lstStyle/>
          <a:p>
            <a:pPr algn="ctr"/>
            <a:r>
              <a:rPr sz="1400" b="0" i="0">
                <a:solidFill>
                  <a:srgbClr val="FFFFFF"/>
                </a:solidFill>
              </a:rPr>
              <a:t>0.5 core</a:t>
            </a:r>
          </a:p>
        </p:txBody>
      </p:sp>
      <p:sp>
        <p:nvSpPr>
          <p:cNvPr id="16" name="Rectangle 15"/>
          <p:cNvSpPr/>
          <p:nvPr/>
        </p:nvSpPr>
        <p:spPr>
          <a:xfrm>
            <a:off x="10439400" y="2029968"/>
            <a:ext cx="1402080" cy="4754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75976" y="2066544"/>
            <a:ext cx="1328928" cy="402336"/>
          </a:xfrm>
          <a:prstGeom prst="rect">
            <a:avLst/>
          </a:prstGeom>
          <a:noFill/>
        </p:spPr>
        <p:txBody>
          <a:bodyPr wrap="square">
            <a:spAutoFit/>
          </a:bodyPr>
          <a:lstStyle/>
          <a:p>
            <a:pPr algn="ctr"/>
            <a:r>
              <a:rPr sz="1400" b="0" i="0">
                <a:solidFill>
                  <a:srgbClr val="FFFFFF"/>
                </a:solidFill>
              </a:rPr>
              <a:t>5 ms</a:t>
            </a:r>
          </a:p>
        </p:txBody>
      </p:sp>
      <p:sp>
        <p:nvSpPr>
          <p:cNvPr id="18" name="Rectangle 17"/>
          <p:cNvSpPr/>
          <p:nvPr/>
        </p:nvSpPr>
        <p:spPr>
          <a:xfrm>
            <a:off x="7635240" y="2505456"/>
            <a:ext cx="1402080" cy="4754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71816" y="2542032"/>
            <a:ext cx="1328928" cy="402336"/>
          </a:xfrm>
          <a:prstGeom prst="rect">
            <a:avLst/>
          </a:prstGeom>
          <a:noFill/>
        </p:spPr>
        <p:txBody>
          <a:bodyPr wrap="square">
            <a:spAutoFit/>
          </a:bodyPr>
          <a:lstStyle/>
          <a:p>
            <a:pPr algn="ctr"/>
            <a:r>
              <a:rPr sz="1400" b="0" i="0">
                <a:solidFill>
                  <a:srgbClr val="FFFFFF"/>
                </a:solidFill>
              </a:rPr>
              <a:t>edge2</a:t>
            </a:r>
          </a:p>
        </p:txBody>
      </p:sp>
      <p:sp>
        <p:nvSpPr>
          <p:cNvPr id="20" name="Rectangle 19"/>
          <p:cNvSpPr/>
          <p:nvPr/>
        </p:nvSpPr>
        <p:spPr>
          <a:xfrm>
            <a:off x="9037320" y="2505456"/>
            <a:ext cx="1402080" cy="4754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3896" y="2542032"/>
            <a:ext cx="1328928" cy="402336"/>
          </a:xfrm>
          <a:prstGeom prst="rect">
            <a:avLst/>
          </a:prstGeom>
          <a:noFill/>
        </p:spPr>
        <p:txBody>
          <a:bodyPr wrap="square">
            <a:spAutoFit/>
          </a:bodyPr>
          <a:lstStyle/>
          <a:p>
            <a:pPr algn="ctr"/>
            <a:r>
              <a:rPr sz="1400" b="0" i="0">
                <a:solidFill>
                  <a:srgbClr val="FFFFFF"/>
                </a:solidFill>
              </a:rPr>
              <a:t>1 core</a:t>
            </a:r>
          </a:p>
        </p:txBody>
      </p:sp>
      <p:sp>
        <p:nvSpPr>
          <p:cNvPr id="22" name="Rectangle 21"/>
          <p:cNvSpPr/>
          <p:nvPr/>
        </p:nvSpPr>
        <p:spPr>
          <a:xfrm>
            <a:off x="10439400" y="2505456"/>
            <a:ext cx="1402080" cy="4754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75976" y="2542032"/>
            <a:ext cx="1328928" cy="402336"/>
          </a:xfrm>
          <a:prstGeom prst="rect">
            <a:avLst/>
          </a:prstGeom>
          <a:noFill/>
        </p:spPr>
        <p:txBody>
          <a:bodyPr wrap="square">
            <a:spAutoFit/>
          </a:bodyPr>
          <a:lstStyle/>
          <a:p>
            <a:pPr algn="ctr"/>
            <a:r>
              <a:rPr sz="1400" b="0" i="0">
                <a:solidFill>
                  <a:srgbClr val="FFFFFF"/>
                </a:solidFill>
              </a:rPr>
              <a:t>15 ms</a:t>
            </a:r>
          </a:p>
        </p:txBody>
      </p:sp>
      <p:sp>
        <p:nvSpPr>
          <p:cNvPr id="24" name="Rectangle 23"/>
          <p:cNvSpPr/>
          <p:nvPr/>
        </p:nvSpPr>
        <p:spPr>
          <a:xfrm>
            <a:off x="7635240" y="2980944"/>
            <a:ext cx="1402080" cy="4754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71816" y="3017520"/>
            <a:ext cx="1328928" cy="402336"/>
          </a:xfrm>
          <a:prstGeom prst="rect">
            <a:avLst/>
          </a:prstGeom>
          <a:noFill/>
        </p:spPr>
        <p:txBody>
          <a:bodyPr wrap="square">
            <a:spAutoFit/>
          </a:bodyPr>
          <a:lstStyle/>
          <a:p>
            <a:pPr algn="ctr"/>
            <a:r>
              <a:rPr sz="1400" b="0" i="0">
                <a:solidFill>
                  <a:srgbClr val="FFFFFF"/>
                </a:solidFill>
              </a:rPr>
              <a:t>edge3</a:t>
            </a:r>
          </a:p>
        </p:txBody>
      </p:sp>
      <p:sp>
        <p:nvSpPr>
          <p:cNvPr id="26" name="Rectangle 25"/>
          <p:cNvSpPr/>
          <p:nvPr/>
        </p:nvSpPr>
        <p:spPr>
          <a:xfrm>
            <a:off x="9037320" y="2980944"/>
            <a:ext cx="1402080" cy="4754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73896" y="3017520"/>
            <a:ext cx="1328928" cy="402336"/>
          </a:xfrm>
          <a:prstGeom prst="rect">
            <a:avLst/>
          </a:prstGeom>
          <a:noFill/>
        </p:spPr>
        <p:txBody>
          <a:bodyPr wrap="square">
            <a:spAutoFit/>
          </a:bodyPr>
          <a:lstStyle/>
          <a:p>
            <a:pPr algn="ctr"/>
            <a:r>
              <a:rPr sz="1400" b="0" i="0">
                <a:solidFill>
                  <a:srgbClr val="FFFFFF"/>
                </a:solidFill>
              </a:rPr>
              <a:t>2 cores</a:t>
            </a:r>
          </a:p>
        </p:txBody>
      </p:sp>
      <p:sp>
        <p:nvSpPr>
          <p:cNvPr id="28" name="Rectangle 27"/>
          <p:cNvSpPr/>
          <p:nvPr/>
        </p:nvSpPr>
        <p:spPr>
          <a:xfrm>
            <a:off x="10439400" y="2980944"/>
            <a:ext cx="1402080" cy="4754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475976" y="3017520"/>
            <a:ext cx="1328928" cy="402336"/>
          </a:xfrm>
          <a:prstGeom prst="rect">
            <a:avLst/>
          </a:prstGeom>
          <a:noFill/>
        </p:spPr>
        <p:txBody>
          <a:bodyPr wrap="square">
            <a:spAutoFit/>
          </a:bodyPr>
          <a:lstStyle/>
          <a:p>
            <a:pPr algn="ctr"/>
            <a:r>
              <a:rPr sz="1400" b="0" i="0">
                <a:solidFill>
                  <a:srgbClr val="FFFFFF"/>
                </a:solidFill>
              </a:rPr>
              <a:t>30 ms</a:t>
            </a:r>
          </a:p>
        </p:txBody>
      </p:sp>
      <p:sp>
        <p:nvSpPr>
          <p:cNvPr id="30" name="Rectangle 29"/>
          <p:cNvSpPr/>
          <p:nvPr/>
        </p:nvSpPr>
        <p:spPr>
          <a:xfrm>
            <a:off x="7635240" y="3456432"/>
            <a:ext cx="1402080" cy="4754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71816" y="3493008"/>
            <a:ext cx="1328928" cy="402336"/>
          </a:xfrm>
          <a:prstGeom prst="rect">
            <a:avLst/>
          </a:prstGeom>
          <a:noFill/>
        </p:spPr>
        <p:txBody>
          <a:bodyPr wrap="square">
            <a:spAutoFit/>
          </a:bodyPr>
          <a:lstStyle/>
          <a:p>
            <a:pPr algn="ctr"/>
            <a:r>
              <a:rPr sz="1400" b="0" i="0">
                <a:solidFill>
                  <a:srgbClr val="FFFFFF"/>
                </a:solidFill>
              </a:rPr>
              <a:t>cloud</a:t>
            </a:r>
          </a:p>
        </p:txBody>
      </p:sp>
      <p:sp>
        <p:nvSpPr>
          <p:cNvPr id="32" name="Rectangle 31"/>
          <p:cNvSpPr/>
          <p:nvPr/>
        </p:nvSpPr>
        <p:spPr>
          <a:xfrm>
            <a:off x="9037320" y="3456432"/>
            <a:ext cx="1402080" cy="4754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73896" y="3493008"/>
            <a:ext cx="1328928" cy="402336"/>
          </a:xfrm>
          <a:prstGeom prst="rect">
            <a:avLst/>
          </a:prstGeom>
          <a:noFill/>
        </p:spPr>
        <p:txBody>
          <a:bodyPr wrap="square">
            <a:spAutoFit/>
          </a:bodyPr>
          <a:lstStyle/>
          <a:p>
            <a:pPr algn="ctr"/>
            <a:r>
              <a:rPr sz="1400" b="0" i="0">
                <a:solidFill>
                  <a:srgbClr val="FFFFFF"/>
                </a:solidFill>
              </a:rPr>
              <a:t>4 cores</a:t>
            </a:r>
          </a:p>
        </p:txBody>
      </p:sp>
      <p:sp>
        <p:nvSpPr>
          <p:cNvPr id="34" name="Rectangle 33"/>
          <p:cNvSpPr/>
          <p:nvPr/>
        </p:nvSpPr>
        <p:spPr>
          <a:xfrm>
            <a:off x="10439400" y="3456432"/>
            <a:ext cx="1402080" cy="4754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475976" y="3493008"/>
            <a:ext cx="1328928" cy="402336"/>
          </a:xfrm>
          <a:prstGeom prst="rect">
            <a:avLst/>
          </a:prstGeom>
          <a:noFill/>
        </p:spPr>
        <p:txBody>
          <a:bodyPr wrap="square">
            <a:spAutoFit/>
          </a:bodyPr>
          <a:lstStyle/>
          <a:p>
            <a:pPr algn="ctr"/>
            <a:r>
              <a:rPr sz="1400" b="0" i="0">
                <a:solidFill>
                  <a:srgbClr val="FFFFFF"/>
                </a:solidFill>
              </a:rPr>
              <a:t>40 ms</a:t>
            </a:r>
          </a:p>
        </p:txBody>
      </p:sp>
      <p:sp>
        <p:nvSpPr>
          <p:cNvPr id="36" name="Rectangle 35"/>
          <p:cNvSpPr/>
          <p:nvPr/>
        </p:nvSpPr>
        <p:spPr>
          <a:xfrm>
            <a:off x="7635240" y="4114800"/>
            <a:ext cx="4206240" cy="237744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99832" y="4251960"/>
            <a:ext cx="3877056" cy="2103120"/>
          </a:xfrm>
          <a:prstGeom prst="rect">
            <a:avLst/>
          </a:prstGeom>
          <a:noFill/>
        </p:spPr>
        <p:txBody>
          <a:bodyPr wrap="square">
            <a:spAutoFit/>
          </a:bodyPr>
          <a:lstStyle/>
          <a:p>
            <a:pPr algn="l"/>
            <a:r>
              <a:rPr sz="1500">
                <a:solidFill>
                  <a:srgbClr val="FFFFFF"/>
                </a:solidFill>
              </a:rPr>
              <a:t>• Containerlab emulates links with exact RTT budgets</a:t>
            </a:r>
          </a:p>
          <a:p>
            <a:pPr algn="l"/>
            <a:r>
              <a:rPr sz="1500">
                <a:solidFill>
                  <a:srgbClr val="FFFFFF"/>
                </a:solidFill>
              </a:rPr>
              <a:t>• Minecraft Paper server on each node, CPU-capped via cgroups</a:t>
            </a:r>
          </a:p>
          <a:p>
            <a:pPr algn="l"/>
            <a:r>
              <a:rPr sz="1500">
                <a:solidFill>
                  <a:srgbClr val="FFFFFF"/>
                </a:solidFill>
              </a:rPr>
              <a:t>• mineflayer bots speak the real game protocol</a:t>
            </a:r>
          </a:p>
          <a:p>
            <a:pPr algn="l"/>
            <a:r>
              <a:rPr sz="1500">
                <a:solidFill>
                  <a:srgbClr val="FFFFFF"/>
                </a:solidFill>
              </a:rPr>
              <a:t>• All four probes run in parallel — same load, same moment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Four-Rung Measurement Ladder</a:t>
            </a:r>
          </a:p>
        </p:txBody>
      </p:sp>
      <p:sp>
        <p:nvSpPr>
          <p:cNvPr id="4" name="TextBox 3"/>
          <p:cNvSpPr txBox="1"/>
          <p:nvPr/>
        </p:nvSpPr>
        <p:spPr>
          <a:xfrm>
            <a:off x="274320" y="914400"/>
            <a:ext cx="11704320" cy="365760"/>
          </a:xfrm>
          <a:prstGeom prst="rect">
            <a:avLst/>
          </a:prstGeom>
          <a:noFill/>
        </p:spPr>
        <p:txBody>
          <a:bodyPr wrap="square">
            <a:spAutoFit/>
          </a:bodyPr>
          <a:lstStyle/>
          <a:p>
            <a:pPr algn="l"/>
            <a:r>
              <a:rPr sz="1500" b="0" i="1">
                <a:solidFill>
                  <a:srgbClr val="00C2B2"/>
                </a:solidFill>
              </a:rPr>
              <a:t>Decomposing where delay lives — network, OS, process, or game thread</a:t>
            </a:r>
          </a:p>
        </p:txBody>
      </p:sp>
      <p:sp>
        <p:nvSpPr>
          <p:cNvPr id="5" name="Rectangle 4"/>
          <p:cNvSpPr/>
          <p:nvPr/>
        </p:nvSpPr>
        <p:spPr>
          <a:xfrm>
            <a:off x="274320" y="1417320"/>
            <a:ext cx="475488" cy="100584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572768"/>
            <a:ext cx="475488" cy="731520"/>
          </a:xfrm>
          <a:prstGeom prst="rect">
            <a:avLst/>
          </a:prstGeom>
          <a:noFill/>
        </p:spPr>
        <p:txBody>
          <a:bodyPr wrap="square">
            <a:spAutoFit/>
          </a:bodyPr>
          <a:lstStyle/>
          <a:p>
            <a:pPr algn="ctr"/>
            <a:r>
              <a:rPr sz="2800" b="1" i="0">
                <a:solidFill>
                  <a:srgbClr val="0D1B2A"/>
                </a:solidFill>
              </a:rPr>
              <a:t>1</a:t>
            </a:r>
          </a:p>
        </p:txBody>
      </p:sp>
      <p:sp>
        <p:nvSpPr>
          <p:cNvPr id="7" name="TextBox 6"/>
          <p:cNvSpPr txBox="1"/>
          <p:nvPr/>
        </p:nvSpPr>
        <p:spPr>
          <a:xfrm>
            <a:off x="914400" y="1453896"/>
            <a:ext cx="3749039" cy="530352"/>
          </a:xfrm>
          <a:prstGeom prst="rect">
            <a:avLst/>
          </a:prstGeom>
          <a:noFill/>
        </p:spPr>
        <p:txBody>
          <a:bodyPr wrap="square">
            <a:spAutoFit/>
          </a:bodyPr>
          <a:lstStyle/>
          <a:p>
            <a:pPr algn="l"/>
            <a:r>
              <a:rPr sz="1800" b="1" i="0">
                <a:solidFill>
                  <a:srgbClr val="FFFFFF"/>
                </a:solidFill>
              </a:rPr>
              <a:t>1  ICMP ping</a:t>
            </a:r>
          </a:p>
        </p:txBody>
      </p:sp>
      <p:sp>
        <p:nvSpPr>
          <p:cNvPr id="8" name="TextBox 7"/>
          <p:cNvSpPr txBox="1"/>
          <p:nvPr/>
        </p:nvSpPr>
        <p:spPr>
          <a:xfrm>
            <a:off x="914400" y="1965960"/>
            <a:ext cx="3749039" cy="384048"/>
          </a:xfrm>
          <a:prstGeom prst="rect">
            <a:avLst/>
          </a:prstGeom>
          <a:noFill/>
        </p:spPr>
        <p:txBody>
          <a:bodyPr wrap="square">
            <a:spAutoFit/>
          </a:bodyPr>
          <a:lstStyle/>
          <a:p>
            <a:pPr algn="l"/>
            <a:r>
              <a:rPr sz="1300" b="0" i="1">
                <a:solidFill>
                  <a:srgbClr val="00C2B2"/>
                </a:solidFill>
              </a:rPr>
              <a:t>Kernel to kernel — network only</a:t>
            </a:r>
          </a:p>
        </p:txBody>
      </p:sp>
      <p:sp>
        <p:nvSpPr>
          <p:cNvPr id="9" name="Rectangle 8"/>
          <p:cNvSpPr/>
          <p:nvPr/>
        </p:nvSpPr>
        <p:spPr>
          <a:xfrm>
            <a:off x="4937760" y="1417320"/>
            <a:ext cx="6949440" cy="1051560"/>
          </a:xfrm>
          <a:prstGeom prst="rect">
            <a:avLst/>
          </a:prstGeom>
          <a:solidFill>
            <a:srgbClr val="102238"/>
          </a:solidFill>
          <a:ln w="635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20640" y="1527048"/>
            <a:ext cx="6583680" cy="896112"/>
          </a:xfrm>
          <a:prstGeom prst="rect">
            <a:avLst/>
          </a:prstGeom>
          <a:noFill/>
        </p:spPr>
        <p:txBody>
          <a:bodyPr wrap="square">
            <a:spAutoFit/>
          </a:bodyPr>
          <a:lstStyle/>
          <a:p>
            <a:pPr algn="l"/>
            <a:r>
              <a:rPr sz="1400" b="0" i="0">
                <a:solidFill>
                  <a:srgbClr val="CCE5FF"/>
                </a:solidFill>
              </a:rPr>
              <a:t>What the analytical formula predicts.
ICMP flat ⟹ the network is not the cause.</a:t>
            </a:r>
          </a:p>
        </p:txBody>
      </p:sp>
      <p:sp>
        <p:nvSpPr>
          <p:cNvPr id="11" name="Rectangle 10"/>
          <p:cNvSpPr/>
          <p:nvPr/>
        </p:nvSpPr>
        <p:spPr>
          <a:xfrm>
            <a:off x="274320" y="2679192"/>
            <a:ext cx="475488" cy="100584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2834640"/>
            <a:ext cx="475488" cy="731520"/>
          </a:xfrm>
          <a:prstGeom prst="rect">
            <a:avLst/>
          </a:prstGeom>
          <a:noFill/>
        </p:spPr>
        <p:txBody>
          <a:bodyPr wrap="square">
            <a:spAutoFit/>
          </a:bodyPr>
          <a:lstStyle/>
          <a:p>
            <a:pPr algn="ctr"/>
            <a:r>
              <a:rPr sz="2800" b="1" i="0">
                <a:solidFill>
                  <a:srgbClr val="0D1B2A"/>
                </a:solidFill>
              </a:rPr>
              <a:t>2</a:t>
            </a:r>
          </a:p>
        </p:txBody>
      </p:sp>
      <p:sp>
        <p:nvSpPr>
          <p:cNvPr id="13" name="TextBox 12"/>
          <p:cNvSpPr txBox="1"/>
          <p:nvPr/>
        </p:nvSpPr>
        <p:spPr>
          <a:xfrm>
            <a:off x="914400" y="2715768"/>
            <a:ext cx="3749039" cy="530352"/>
          </a:xfrm>
          <a:prstGeom prst="rect">
            <a:avLst/>
          </a:prstGeom>
          <a:noFill/>
        </p:spPr>
        <p:txBody>
          <a:bodyPr wrap="square">
            <a:spAutoFit/>
          </a:bodyPr>
          <a:lstStyle/>
          <a:p>
            <a:pPr algn="l"/>
            <a:r>
              <a:rPr sz="1800" b="1" i="0">
                <a:solidFill>
                  <a:srgbClr val="FFFFFF"/>
                </a:solidFill>
              </a:rPr>
              <a:t>2  TCP handshake</a:t>
            </a:r>
          </a:p>
        </p:txBody>
      </p:sp>
      <p:sp>
        <p:nvSpPr>
          <p:cNvPr id="14" name="TextBox 13"/>
          <p:cNvSpPr txBox="1"/>
          <p:nvPr/>
        </p:nvSpPr>
        <p:spPr>
          <a:xfrm>
            <a:off x="914400" y="3227832"/>
            <a:ext cx="3749039" cy="384048"/>
          </a:xfrm>
          <a:prstGeom prst="rect">
            <a:avLst/>
          </a:prstGeom>
          <a:noFill/>
        </p:spPr>
        <p:txBody>
          <a:bodyPr wrap="square">
            <a:spAutoFit/>
          </a:bodyPr>
          <a:lstStyle/>
          <a:p>
            <a:pPr algn="l"/>
            <a:r>
              <a:rPr sz="1300" b="0" i="1">
                <a:solidFill>
                  <a:srgbClr val="00C2B2"/>
                </a:solidFill>
              </a:rPr>
              <a:t>Network + server host's TCP accept path</a:t>
            </a:r>
          </a:p>
        </p:txBody>
      </p:sp>
      <p:sp>
        <p:nvSpPr>
          <p:cNvPr id="15" name="Rectangle 14"/>
          <p:cNvSpPr/>
          <p:nvPr/>
        </p:nvSpPr>
        <p:spPr>
          <a:xfrm>
            <a:off x="4937760" y="2679192"/>
            <a:ext cx="6949440" cy="1051560"/>
          </a:xfrm>
          <a:prstGeom prst="rect">
            <a:avLst/>
          </a:prstGeom>
          <a:solidFill>
            <a:srgbClr val="102238"/>
          </a:solidFill>
          <a:ln w="635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0" y="2788920"/>
            <a:ext cx="6583680" cy="896112"/>
          </a:xfrm>
          <a:prstGeom prst="rect">
            <a:avLst/>
          </a:prstGeom>
          <a:noFill/>
        </p:spPr>
        <p:txBody>
          <a:bodyPr wrap="square">
            <a:spAutoFit/>
          </a:bodyPr>
          <a:lstStyle/>
          <a:p>
            <a:pPr algn="l"/>
            <a:r>
              <a:rPr sz="1400" b="0" i="0">
                <a:solidFill>
                  <a:srgbClr val="CCE5FF"/>
                </a:solidFill>
              </a:rPr>
              <a:t>Separates link delay from OS accept queue.
Expected to stay nearly flat under load.</a:t>
            </a:r>
          </a:p>
        </p:txBody>
      </p:sp>
      <p:sp>
        <p:nvSpPr>
          <p:cNvPr id="17" name="Rectangle 16"/>
          <p:cNvSpPr/>
          <p:nvPr/>
        </p:nvSpPr>
        <p:spPr>
          <a:xfrm>
            <a:off x="274320" y="3941064"/>
            <a:ext cx="475488" cy="100584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 y="4096512"/>
            <a:ext cx="475488" cy="731520"/>
          </a:xfrm>
          <a:prstGeom prst="rect">
            <a:avLst/>
          </a:prstGeom>
          <a:noFill/>
        </p:spPr>
        <p:txBody>
          <a:bodyPr wrap="square">
            <a:spAutoFit/>
          </a:bodyPr>
          <a:lstStyle/>
          <a:p>
            <a:pPr algn="ctr"/>
            <a:r>
              <a:rPr sz="2800" b="1" i="0">
                <a:solidFill>
                  <a:srgbClr val="0D1B2A"/>
                </a:solidFill>
              </a:rPr>
              <a:t>3</a:t>
            </a:r>
          </a:p>
        </p:txBody>
      </p:sp>
      <p:sp>
        <p:nvSpPr>
          <p:cNvPr id="19" name="TextBox 18"/>
          <p:cNvSpPr txBox="1"/>
          <p:nvPr/>
        </p:nvSpPr>
        <p:spPr>
          <a:xfrm>
            <a:off x="914400" y="3977640"/>
            <a:ext cx="3749039" cy="530352"/>
          </a:xfrm>
          <a:prstGeom prst="rect">
            <a:avLst/>
          </a:prstGeom>
          <a:noFill/>
        </p:spPr>
        <p:txBody>
          <a:bodyPr wrap="square">
            <a:spAutoFit/>
          </a:bodyPr>
          <a:lstStyle/>
          <a:p>
            <a:pPr algn="l"/>
            <a:r>
              <a:rPr sz="1800" b="1" i="0">
                <a:solidFill>
                  <a:srgbClr val="FFFFFF"/>
                </a:solidFill>
              </a:rPr>
              <a:t>3  Status ping</a:t>
            </a:r>
          </a:p>
        </p:txBody>
      </p:sp>
      <p:sp>
        <p:nvSpPr>
          <p:cNvPr id="20" name="TextBox 19"/>
          <p:cNvSpPr txBox="1"/>
          <p:nvPr/>
        </p:nvSpPr>
        <p:spPr>
          <a:xfrm>
            <a:off x="914400" y="4489704"/>
            <a:ext cx="3749039" cy="384048"/>
          </a:xfrm>
          <a:prstGeom prst="rect">
            <a:avLst/>
          </a:prstGeom>
          <a:noFill/>
        </p:spPr>
        <p:txBody>
          <a:bodyPr wrap="square">
            <a:spAutoFit/>
          </a:bodyPr>
          <a:lstStyle/>
          <a:p>
            <a:pPr algn="l"/>
            <a:r>
              <a:rPr sz="1300" b="0" i="1">
                <a:solidFill>
                  <a:srgbClr val="00C2B2"/>
                </a:solidFill>
              </a:rPr>
              <a:t>Network + server process answering a request</a:t>
            </a:r>
          </a:p>
        </p:txBody>
      </p:sp>
      <p:sp>
        <p:nvSpPr>
          <p:cNvPr id="21" name="Rectangle 20"/>
          <p:cNvSpPr/>
          <p:nvPr/>
        </p:nvSpPr>
        <p:spPr>
          <a:xfrm>
            <a:off x="4937760" y="3941064"/>
            <a:ext cx="6949440" cy="1051560"/>
          </a:xfrm>
          <a:prstGeom prst="rect">
            <a:avLst/>
          </a:prstGeom>
          <a:solidFill>
            <a:srgbClr val="102238"/>
          </a:solidFill>
          <a:ln w="635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0640" y="4050792"/>
            <a:ext cx="6583680" cy="896112"/>
          </a:xfrm>
          <a:prstGeom prst="rect">
            <a:avLst/>
          </a:prstGeom>
          <a:noFill/>
        </p:spPr>
        <p:txBody>
          <a:bodyPr wrap="square">
            <a:spAutoFit/>
          </a:bodyPr>
          <a:lstStyle/>
          <a:p>
            <a:pPr algn="l"/>
            <a:r>
              <a:rPr sz="1400" b="0" i="0">
                <a:solidFill>
                  <a:srgbClr val="CCE5FF"/>
                </a:solidFill>
              </a:rPr>
              <a:t>Minecraft server-list ping.
Shows whether server-process load bleeds into responses.</a:t>
            </a:r>
          </a:p>
        </p:txBody>
      </p:sp>
      <p:sp>
        <p:nvSpPr>
          <p:cNvPr id="23" name="Rectangle 22"/>
          <p:cNvSpPr/>
          <p:nvPr/>
        </p:nvSpPr>
        <p:spPr>
          <a:xfrm>
            <a:off x="274320" y="5202936"/>
            <a:ext cx="475488" cy="100584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5358384"/>
            <a:ext cx="475488" cy="731520"/>
          </a:xfrm>
          <a:prstGeom prst="rect">
            <a:avLst/>
          </a:prstGeom>
          <a:noFill/>
        </p:spPr>
        <p:txBody>
          <a:bodyPr wrap="square">
            <a:spAutoFit/>
          </a:bodyPr>
          <a:lstStyle/>
          <a:p>
            <a:pPr algn="ctr"/>
            <a:r>
              <a:rPr sz="2800" b="1" i="0">
                <a:solidFill>
                  <a:srgbClr val="0D1B2A"/>
                </a:solidFill>
              </a:rPr>
              <a:t>4</a:t>
            </a:r>
          </a:p>
        </p:txBody>
      </p:sp>
      <p:sp>
        <p:nvSpPr>
          <p:cNvPr id="25" name="TextBox 24"/>
          <p:cNvSpPr txBox="1"/>
          <p:nvPr/>
        </p:nvSpPr>
        <p:spPr>
          <a:xfrm>
            <a:off x="914400" y="5239512"/>
            <a:ext cx="3749039" cy="530352"/>
          </a:xfrm>
          <a:prstGeom prst="rect">
            <a:avLst/>
          </a:prstGeom>
          <a:noFill/>
        </p:spPr>
        <p:txBody>
          <a:bodyPr wrap="square">
            <a:spAutoFit/>
          </a:bodyPr>
          <a:lstStyle/>
          <a:p>
            <a:pPr algn="l"/>
            <a:r>
              <a:rPr sz="1800" b="1" i="0">
                <a:solidFill>
                  <a:srgbClr val="FFFFFF"/>
                </a:solidFill>
              </a:rPr>
              <a:t>4  In-game RTT</a:t>
            </a:r>
          </a:p>
        </p:txBody>
      </p:sp>
      <p:sp>
        <p:nvSpPr>
          <p:cNvPr id="26" name="TextBox 25"/>
          <p:cNvSpPr txBox="1"/>
          <p:nvPr/>
        </p:nvSpPr>
        <p:spPr>
          <a:xfrm>
            <a:off x="914400" y="5751576"/>
            <a:ext cx="3749039" cy="384048"/>
          </a:xfrm>
          <a:prstGeom prst="rect">
            <a:avLst/>
          </a:prstGeom>
          <a:noFill/>
        </p:spPr>
        <p:txBody>
          <a:bodyPr wrap="square">
            <a:spAutoFit/>
          </a:bodyPr>
          <a:lstStyle/>
          <a:p>
            <a:pPr algn="l"/>
            <a:r>
              <a:rPr sz="1300" b="0" i="1">
                <a:solidFill>
                  <a:srgbClr val="00C2B2"/>
                </a:solidFill>
              </a:rPr>
              <a:t>Network + server's main game thread (tick loop)</a:t>
            </a:r>
          </a:p>
        </p:txBody>
      </p:sp>
      <p:sp>
        <p:nvSpPr>
          <p:cNvPr id="27" name="Rectangle 26"/>
          <p:cNvSpPr/>
          <p:nvPr/>
        </p:nvSpPr>
        <p:spPr>
          <a:xfrm>
            <a:off x="4937760" y="5202936"/>
            <a:ext cx="6949440" cy="1051560"/>
          </a:xfrm>
          <a:prstGeom prst="rect">
            <a:avLst/>
          </a:prstGeom>
          <a:solidFill>
            <a:srgbClr val="102238"/>
          </a:solidFill>
          <a:ln w="635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20640" y="5312664"/>
            <a:ext cx="6583680" cy="896112"/>
          </a:xfrm>
          <a:prstGeom prst="rect">
            <a:avLst/>
          </a:prstGeom>
          <a:noFill/>
        </p:spPr>
        <p:txBody>
          <a:bodyPr wrap="square">
            <a:spAutoFit/>
          </a:bodyPr>
          <a:lstStyle/>
          <a:p>
            <a:pPr algn="l"/>
            <a:r>
              <a:rPr sz="1400" b="0" i="0">
                <a:solidFill>
                  <a:srgbClr val="CCE5FF"/>
                </a:solidFill>
              </a:rPr>
              <a:t>Chat echo via mineflayer.
Every ms above probe 1 is model error — unmeasured queueing.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Node Capacity: Flat, Then a Cliff</a:t>
            </a:r>
          </a:p>
        </p:txBody>
      </p:sp>
      <p:sp>
        <p:nvSpPr>
          <p:cNvPr id="4" name="TextBox 3"/>
          <p:cNvSpPr txBox="1"/>
          <p:nvPr/>
        </p:nvSpPr>
        <p:spPr>
          <a:xfrm>
            <a:off x="274320" y="914400"/>
            <a:ext cx="11704320" cy="365760"/>
          </a:xfrm>
          <a:prstGeom prst="rect">
            <a:avLst/>
          </a:prstGeom>
          <a:noFill/>
        </p:spPr>
        <p:txBody>
          <a:bodyPr wrap="square">
            <a:spAutoFit/>
          </a:bodyPr>
          <a:lstStyle/>
          <a:p>
            <a:pPr algn="l"/>
            <a:r>
              <a:rPr sz="1500" b="0" i="1">
                <a:solidFill>
                  <a:srgbClr val="00C2B2"/>
                </a:solidFill>
              </a:rPr>
              <a:t>p95 in-game RTT and tick time (MSPT), mean of two replicates. Tick budget is 50 ms.</a:t>
            </a:r>
          </a:p>
        </p:txBody>
      </p:sp>
      <p:sp>
        <p:nvSpPr>
          <p:cNvPr id="5" name="Rectangle 4"/>
          <p:cNvSpPr/>
          <p:nvPr/>
        </p:nvSpPr>
        <p:spPr>
          <a:xfrm>
            <a:off x="274320" y="1417320"/>
            <a:ext cx="1335024" cy="724988"/>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10896" y="1453896"/>
            <a:ext cx="1261872" cy="651836"/>
          </a:xfrm>
          <a:prstGeom prst="rect">
            <a:avLst/>
          </a:prstGeom>
          <a:noFill/>
        </p:spPr>
        <p:txBody>
          <a:bodyPr wrap="square">
            <a:spAutoFit/>
          </a:bodyPr>
          <a:lstStyle/>
          <a:p>
            <a:pPr algn="ctr"/>
            <a:r>
              <a:rPr sz="1400" b="1" i="0">
                <a:solidFill>
                  <a:srgbClr val="0D1B2A"/>
                </a:solidFill>
              </a:rPr>
              <a:t>Players</a:t>
            </a:r>
          </a:p>
        </p:txBody>
      </p:sp>
      <p:sp>
        <p:nvSpPr>
          <p:cNvPr id="7" name="Rectangle 6"/>
          <p:cNvSpPr/>
          <p:nvPr/>
        </p:nvSpPr>
        <p:spPr>
          <a:xfrm>
            <a:off x="1609344" y="1417320"/>
            <a:ext cx="1335024" cy="724988"/>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0" y="1453896"/>
            <a:ext cx="1261872" cy="651836"/>
          </a:xfrm>
          <a:prstGeom prst="rect">
            <a:avLst/>
          </a:prstGeom>
          <a:noFill/>
        </p:spPr>
        <p:txBody>
          <a:bodyPr wrap="square">
            <a:spAutoFit/>
          </a:bodyPr>
          <a:lstStyle/>
          <a:p>
            <a:pPr algn="ctr"/>
            <a:r>
              <a:rPr sz="1400" b="1" i="0">
                <a:solidFill>
                  <a:srgbClr val="0D1B2A"/>
                </a:solidFill>
              </a:rPr>
              <a:t>edge1 p95</a:t>
            </a:r>
          </a:p>
        </p:txBody>
      </p:sp>
      <p:sp>
        <p:nvSpPr>
          <p:cNvPr id="9" name="Rectangle 8"/>
          <p:cNvSpPr/>
          <p:nvPr/>
        </p:nvSpPr>
        <p:spPr>
          <a:xfrm>
            <a:off x="2944368" y="1417320"/>
            <a:ext cx="1335024" cy="724988"/>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0944" y="1453896"/>
            <a:ext cx="1261872" cy="651836"/>
          </a:xfrm>
          <a:prstGeom prst="rect">
            <a:avLst/>
          </a:prstGeom>
          <a:noFill/>
        </p:spPr>
        <p:txBody>
          <a:bodyPr wrap="square">
            <a:spAutoFit/>
          </a:bodyPr>
          <a:lstStyle/>
          <a:p>
            <a:pPr algn="ctr"/>
            <a:r>
              <a:rPr sz="1400" b="1" i="0">
                <a:solidFill>
                  <a:srgbClr val="0D1B2A"/>
                </a:solidFill>
              </a:rPr>
              <a:t>edge1 MSPT</a:t>
            </a:r>
          </a:p>
        </p:txBody>
      </p:sp>
      <p:sp>
        <p:nvSpPr>
          <p:cNvPr id="11" name="Rectangle 10"/>
          <p:cNvSpPr/>
          <p:nvPr/>
        </p:nvSpPr>
        <p:spPr>
          <a:xfrm>
            <a:off x="4279392" y="1417320"/>
            <a:ext cx="1335024" cy="724988"/>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15968" y="1453896"/>
            <a:ext cx="1261872" cy="651836"/>
          </a:xfrm>
          <a:prstGeom prst="rect">
            <a:avLst/>
          </a:prstGeom>
          <a:noFill/>
        </p:spPr>
        <p:txBody>
          <a:bodyPr wrap="square">
            <a:spAutoFit/>
          </a:bodyPr>
          <a:lstStyle/>
          <a:p>
            <a:pPr algn="ctr"/>
            <a:r>
              <a:rPr sz="1400" b="1" i="0">
                <a:solidFill>
                  <a:srgbClr val="0D1B2A"/>
                </a:solidFill>
              </a:rPr>
              <a:t>edge2 p95</a:t>
            </a:r>
          </a:p>
        </p:txBody>
      </p:sp>
      <p:sp>
        <p:nvSpPr>
          <p:cNvPr id="13" name="Rectangle 12"/>
          <p:cNvSpPr/>
          <p:nvPr/>
        </p:nvSpPr>
        <p:spPr>
          <a:xfrm>
            <a:off x="5614416" y="1417320"/>
            <a:ext cx="1335024" cy="724988"/>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50992" y="1453896"/>
            <a:ext cx="1261872" cy="651836"/>
          </a:xfrm>
          <a:prstGeom prst="rect">
            <a:avLst/>
          </a:prstGeom>
          <a:noFill/>
        </p:spPr>
        <p:txBody>
          <a:bodyPr wrap="square">
            <a:spAutoFit/>
          </a:bodyPr>
          <a:lstStyle/>
          <a:p>
            <a:pPr algn="ctr"/>
            <a:r>
              <a:rPr sz="1400" b="1" i="0">
                <a:solidFill>
                  <a:srgbClr val="0D1B2A"/>
                </a:solidFill>
              </a:rPr>
              <a:t>edge2 MSPT</a:t>
            </a:r>
          </a:p>
        </p:txBody>
      </p:sp>
      <p:sp>
        <p:nvSpPr>
          <p:cNvPr id="15" name="Rectangle 14"/>
          <p:cNvSpPr/>
          <p:nvPr/>
        </p:nvSpPr>
        <p:spPr>
          <a:xfrm>
            <a:off x="274320" y="2142308"/>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0896" y="2178884"/>
            <a:ext cx="1261872" cy="651836"/>
          </a:xfrm>
          <a:prstGeom prst="rect">
            <a:avLst/>
          </a:prstGeom>
          <a:noFill/>
        </p:spPr>
        <p:txBody>
          <a:bodyPr wrap="square">
            <a:spAutoFit/>
          </a:bodyPr>
          <a:lstStyle/>
          <a:p>
            <a:pPr algn="ctr"/>
            <a:r>
              <a:rPr sz="1300" b="0" i="0">
                <a:solidFill>
                  <a:srgbClr val="FFFFFF"/>
                </a:solidFill>
              </a:rPr>
              <a:t>1</a:t>
            </a:r>
          </a:p>
        </p:txBody>
      </p:sp>
      <p:sp>
        <p:nvSpPr>
          <p:cNvPr id="17" name="Rectangle 16"/>
          <p:cNvSpPr/>
          <p:nvPr/>
        </p:nvSpPr>
        <p:spPr>
          <a:xfrm>
            <a:off x="1609344" y="2142308"/>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45920" y="2178884"/>
            <a:ext cx="1261872" cy="651836"/>
          </a:xfrm>
          <a:prstGeom prst="rect">
            <a:avLst/>
          </a:prstGeom>
          <a:noFill/>
        </p:spPr>
        <p:txBody>
          <a:bodyPr wrap="square">
            <a:spAutoFit/>
          </a:bodyPr>
          <a:lstStyle/>
          <a:p>
            <a:pPr algn="ctr"/>
            <a:r>
              <a:rPr sz="1300" b="0" i="0">
                <a:solidFill>
                  <a:srgbClr val="FFFFFF"/>
                </a:solidFill>
              </a:rPr>
              <a:t>6 ms</a:t>
            </a:r>
          </a:p>
        </p:txBody>
      </p:sp>
      <p:sp>
        <p:nvSpPr>
          <p:cNvPr id="19" name="Rectangle 18"/>
          <p:cNvSpPr/>
          <p:nvPr/>
        </p:nvSpPr>
        <p:spPr>
          <a:xfrm>
            <a:off x="2944368" y="2142308"/>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80944" y="2178884"/>
            <a:ext cx="1261872" cy="651836"/>
          </a:xfrm>
          <a:prstGeom prst="rect">
            <a:avLst/>
          </a:prstGeom>
          <a:noFill/>
        </p:spPr>
        <p:txBody>
          <a:bodyPr wrap="square">
            <a:spAutoFit/>
          </a:bodyPr>
          <a:lstStyle/>
          <a:p>
            <a:pPr algn="ctr"/>
            <a:r>
              <a:rPr sz="1300" b="0" i="0">
                <a:solidFill>
                  <a:srgbClr val="FFFFFF"/>
                </a:solidFill>
              </a:rPr>
              <a:t>1.0 ms</a:t>
            </a:r>
          </a:p>
        </p:txBody>
      </p:sp>
      <p:sp>
        <p:nvSpPr>
          <p:cNvPr id="21" name="Rectangle 20"/>
          <p:cNvSpPr/>
          <p:nvPr/>
        </p:nvSpPr>
        <p:spPr>
          <a:xfrm>
            <a:off x="4279392" y="2142308"/>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15968" y="2178884"/>
            <a:ext cx="1261872" cy="651836"/>
          </a:xfrm>
          <a:prstGeom prst="rect">
            <a:avLst/>
          </a:prstGeom>
          <a:noFill/>
        </p:spPr>
        <p:txBody>
          <a:bodyPr wrap="square">
            <a:spAutoFit/>
          </a:bodyPr>
          <a:lstStyle/>
          <a:p>
            <a:pPr algn="ctr"/>
            <a:r>
              <a:rPr sz="1300" b="0" i="0">
                <a:solidFill>
                  <a:srgbClr val="FFFFFF"/>
                </a:solidFill>
              </a:rPr>
              <a:t>16 ms</a:t>
            </a:r>
          </a:p>
        </p:txBody>
      </p:sp>
      <p:sp>
        <p:nvSpPr>
          <p:cNvPr id="23" name="Rectangle 22"/>
          <p:cNvSpPr/>
          <p:nvPr/>
        </p:nvSpPr>
        <p:spPr>
          <a:xfrm>
            <a:off x="5614416" y="2142308"/>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50992" y="2178884"/>
            <a:ext cx="1261872" cy="651836"/>
          </a:xfrm>
          <a:prstGeom prst="rect">
            <a:avLst/>
          </a:prstGeom>
          <a:noFill/>
        </p:spPr>
        <p:txBody>
          <a:bodyPr wrap="square">
            <a:spAutoFit/>
          </a:bodyPr>
          <a:lstStyle/>
          <a:p>
            <a:pPr algn="ctr"/>
            <a:r>
              <a:rPr sz="1300" b="0" i="0">
                <a:solidFill>
                  <a:srgbClr val="FFFFFF"/>
                </a:solidFill>
              </a:rPr>
              <a:t>1.6 ms</a:t>
            </a:r>
          </a:p>
        </p:txBody>
      </p:sp>
      <p:sp>
        <p:nvSpPr>
          <p:cNvPr id="25" name="Rectangle 24"/>
          <p:cNvSpPr/>
          <p:nvPr/>
        </p:nvSpPr>
        <p:spPr>
          <a:xfrm>
            <a:off x="274320" y="2867297"/>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0896" y="2903873"/>
            <a:ext cx="1261872" cy="651836"/>
          </a:xfrm>
          <a:prstGeom prst="rect">
            <a:avLst/>
          </a:prstGeom>
          <a:noFill/>
        </p:spPr>
        <p:txBody>
          <a:bodyPr wrap="square">
            <a:spAutoFit/>
          </a:bodyPr>
          <a:lstStyle/>
          <a:p>
            <a:pPr algn="ctr"/>
            <a:r>
              <a:rPr sz="1300" b="0" i="0">
                <a:solidFill>
                  <a:srgbClr val="FFFFFF"/>
                </a:solidFill>
              </a:rPr>
              <a:t>20</a:t>
            </a:r>
          </a:p>
        </p:txBody>
      </p:sp>
      <p:sp>
        <p:nvSpPr>
          <p:cNvPr id="27" name="Rectangle 26"/>
          <p:cNvSpPr/>
          <p:nvPr/>
        </p:nvSpPr>
        <p:spPr>
          <a:xfrm>
            <a:off x="1609344" y="2867297"/>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45920" y="2903873"/>
            <a:ext cx="1261872" cy="651836"/>
          </a:xfrm>
          <a:prstGeom prst="rect">
            <a:avLst/>
          </a:prstGeom>
          <a:noFill/>
        </p:spPr>
        <p:txBody>
          <a:bodyPr wrap="square">
            <a:spAutoFit/>
          </a:bodyPr>
          <a:lstStyle/>
          <a:p>
            <a:pPr algn="ctr"/>
            <a:r>
              <a:rPr sz="1300" b="0" i="0">
                <a:solidFill>
                  <a:srgbClr val="FFFFFF"/>
                </a:solidFill>
              </a:rPr>
              <a:t>8.5 ms</a:t>
            </a:r>
          </a:p>
        </p:txBody>
      </p:sp>
      <p:sp>
        <p:nvSpPr>
          <p:cNvPr id="29" name="Rectangle 28"/>
          <p:cNvSpPr/>
          <p:nvPr/>
        </p:nvSpPr>
        <p:spPr>
          <a:xfrm>
            <a:off x="2944368" y="2867297"/>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80944" y="2903873"/>
            <a:ext cx="1261872" cy="651836"/>
          </a:xfrm>
          <a:prstGeom prst="rect">
            <a:avLst/>
          </a:prstGeom>
          <a:noFill/>
        </p:spPr>
        <p:txBody>
          <a:bodyPr wrap="square">
            <a:spAutoFit/>
          </a:bodyPr>
          <a:lstStyle/>
          <a:p>
            <a:pPr algn="ctr"/>
            <a:r>
              <a:rPr sz="1300" b="0" i="0">
                <a:solidFill>
                  <a:srgbClr val="FFFFFF"/>
                </a:solidFill>
              </a:rPr>
              <a:t>2.5 ms</a:t>
            </a:r>
          </a:p>
        </p:txBody>
      </p:sp>
      <p:sp>
        <p:nvSpPr>
          <p:cNvPr id="31" name="Rectangle 30"/>
          <p:cNvSpPr/>
          <p:nvPr/>
        </p:nvSpPr>
        <p:spPr>
          <a:xfrm>
            <a:off x="4279392" y="2867297"/>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15968" y="2903873"/>
            <a:ext cx="1261872" cy="651836"/>
          </a:xfrm>
          <a:prstGeom prst="rect">
            <a:avLst/>
          </a:prstGeom>
          <a:noFill/>
        </p:spPr>
        <p:txBody>
          <a:bodyPr wrap="square">
            <a:spAutoFit/>
          </a:bodyPr>
          <a:lstStyle/>
          <a:p>
            <a:pPr algn="ctr"/>
            <a:r>
              <a:rPr sz="1300" b="0" i="0">
                <a:solidFill>
                  <a:srgbClr val="FFFFFF"/>
                </a:solidFill>
              </a:rPr>
              <a:t>17.5 ms</a:t>
            </a:r>
          </a:p>
        </p:txBody>
      </p:sp>
      <p:sp>
        <p:nvSpPr>
          <p:cNvPr id="33" name="Rectangle 32"/>
          <p:cNvSpPr/>
          <p:nvPr/>
        </p:nvSpPr>
        <p:spPr>
          <a:xfrm>
            <a:off x="5614416" y="2867297"/>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50992" y="2903873"/>
            <a:ext cx="1261872" cy="651836"/>
          </a:xfrm>
          <a:prstGeom prst="rect">
            <a:avLst/>
          </a:prstGeom>
          <a:noFill/>
        </p:spPr>
        <p:txBody>
          <a:bodyPr wrap="square">
            <a:spAutoFit/>
          </a:bodyPr>
          <a:lstStyle/>
          <a:p>
            <a:pPr algn="ctr"/>
            <a:r>
              <a:rPr sz="1300" b="0" i="0">
                <a:solidFill>
                  <a:srgbClr val="FFFFFF"/>
                </a:solidFill>
              </a:rPr>
              <a:t>2.5 ms</a:t>
            </a:r>
          </a:p>
        </p:txBody>
      </p:sp>
      <p:sp>
        <p:nvSpPr>
          <p:cNvPr id="35" name="Rectangle 34"/>
          <p:cNvSpPr/>
          <p:nvPr/>
        </p:nvSpPr>
        <p:spPr>
          <a:xfrm>
            <a:off x="274320" y="3592285"/>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10896" y="3628861"/>
            <a:ext cx="1261872" cy="651836"/>
          </a:xfrm>
          <a:prstGeom prst="rect">
            <a:avLst/>
          </a:prstGeom>
          <a:noFill/>
        </p:spPr>
        <p:txBody>
          <a:bodyPr wrap="square">
            <a:spAutoFit/>
          </a:bodyPr>
          <a:lstStyle/>
          <a:p>
            <a:pPr algn="ctr"/>
            <a:r>
              <a:rPr sz="1300" b="0" i="0">
                <a:solidFill>
                  <a:srgbClr val="FFFFFF"/>
                </a:solidFill>
              </a:rPr>
              <a:t>40</a:t>
            </a:r>
          </a:p>
        </p:txBody>
      </p:sp>
      <p:sp>
        <p:nvSpPr>
          <p:cNvPr id="37" name="Rectangle 36"/>
          <p:cNvSpPr/>
          <p:nvPr/>
        </p:nvSpPr>
        <p:spPr>
          <a:xfrm>
            <a:off x="1609344" y="3592285"/>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645920" y="3628861"/>
            <a:ext cx="1261872" cy="651836"/>
          </a:xfrm>
          <a:prstGeom prst="rect">
            <a:avLst/>
          </a:prstGeom>
          <a:noFill/>
        </p:spPr>
        <p:txBody>
          <a:bodyPr wrap="square">
            <a:spAutoFit/>
          </a:bodyPr>
          <a:lstStyle/>
          <a:p>
            <a:pPr algn="ctr"/>
            <a:r>
              <a:rPr sz="1300" b="0" i="0">
                <a:solidFill>
                  <a:srgbClr val="FFFFFF"/>
                </a:solidFill>
              </a:rPr>
              <a:t>14.5 ms</a:t>
            </a:r>
          </a:p>
        </p:txBody>
      </p:sp>
      <p:sp>
        <p:nvSpPr>
          <p:cNvPr id="39" name="Rectangle 38"/>
          <p:cNvSpPr/>
          <p:nvPr/>
        </p:nvSpPr>
        <p:spPr>
          <a:xfrm>
            <a:off x="2944368" y="3592285"/>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80944" y="3628861"/>
            <a:ext cx="1261872" cy="651836"/>
          </a:xfrm>
          <a:prstGeom prst="rect">
            <a:avLst/>
          </a:prstGeom>
          <a:noFill/>
        </p:spPr>
        <p:txBody>
          <a:bodyPr wrap="square">
            <a:spAutoFit/>
          </a:bodyPr>
          <a:lstStyle/>
          <a:p>
            <a:pPr algn="ctr"/>
            <a:r>
              <a:rPr sz="1300" b="0" i="0">
                <a:solidFill>
                  <a:srgbClr val="FFFFFF"/>
                </a:solidFill>
              </a:rPr>
              <a:t>4.6 ms</a:t>
            </a:r>
          </a:p>
        </p:txBody>
      </p:sp>
      <p:sp>
        <p:nvSpPr>
          <p:cNvPr id="41" name="Rectangle 40"/>
          <p:cNvSpPr/>
          <p:nvPr/>
        </p:nvSpPr>
        <p:spPr>
          <a:xfrm>
            <a:off x="4279392" y="3592285"/>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15968" y="3628861"/>
            <a:ext cx="1261872" cy="651836"/>
          </a:xfrm>
          <a:prstGeom prst="rect">
            <a:avLst/>
          </a:prstGeom>
          <a:noFill/>
        </p:spPr>
        <p:txBody>
          <a:bodyPr wrap="square">
            <a:spAutoFit/>
          </a:bodyPr>
          <a:lstStyle/>
          <a:p>
            <a:pPr algn="ctr"/>
            <a:r>
              <a:rPr sz="1300" b="0" i="0">
                <a:solidFill>
                  <a:srgbClr val="FFFFFF"/>
                </a:solidFill>
              </a:rPr>
              <a:t>21 ms</a:t>
            </a:r>
          </a:p>
        </p:txBody>
      </p:sp>
      <p:sp>
        <p:nvSpPr>
          <p:cNvPr id="43" name="Rectangle 42"/>
          <p:cNvSpPr/>
          <p:nvPr/>
        </p:nvSpPr>
        <p:spPr>
          <a:xfrm>
            <a:off x="5614416" y="3592285"/>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650992" y="3628861"/>
            <a:ext cx="1261872" cy="651836"/>
          </a:xfrm>
          <a:prstGeom prst="rect">
            <a:avLst/>
          </a:prstGeom>
          <a:noFill/>
        </p:spPr>
        <p:txBody>
          <a:bodyPr wrap="square">
            <a:spAutoFit/>
          </a:bodyPr>
          <a:lstStyle/>
          <a:p>
            <a:pPr algn="ctr"/>
            <a:r>
              <a:rPr sz="1300" b="0" i="0">
                <a:solidFill>
                  <a:srgbClr val="FFFFFF"/>
                </a:solidFill>
              </a:rPr>
              <a:t>4.0 ms</a:t>
            </a:r>
          </a:p>
        </p:txBody>
      </p:sp>
      <p:sp>
        <p:nvSpPr>
          <p:cNvPr id="45" name="Rectangle 44"/>
          <p:cNvSpPr/>
          <p:nvPr/>
        </p:nvSpPr>
        <p:spPr>
          <a:xfrm>
            <a:off x="274320" y="4317274"/>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10896" y="4353850"/>
            <a:ext cx="1261872" cy="651836"/>
          </a:xfrm>
          <a:prstGeom prst="rect">
            <a:avLst/>
          </a:prstGeom>
          <a:noFill/>
        </p:spPr>
        <p:txBody>
          <a:bodyPr wrap="square">
            <a:spAutoFit/>
          </a:bodyPr>
          <a:lstStyle/>
          <a:p>
            <a:pPr algn="ctr"/>
            <a:r>
              <a:rPr sz="1300" b="0" i="0">
                <a:solidFill>
                  <a:srgbClr val="FFFFFF"/>
                </a:solidFill>
              </a:rPr>
              <a:t>60</a:t>
            </a:r>
          </a:p>
        </p:txBody>
      </p:sp>
      <p:sp>
        <p:nvSpPr>
          <p:cNvPr id="47" name="Rectangle 46"/>
          <p:cNvSpPr/>
          <p:nvPr/>
        </p:nvSpPr>
        <p:spPr>
          <a:xfrm>
            <a:off x="1609344" y="4317274"/>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645920" y="4353850"/>
            <a:ext cx="1261872" cy="651836"/>
          </a:xfrm>
          <a:prstGeom prst="rect">
            <a:avLst/>
          </a:prstGeom>
          <a:noFill/>
        </p:spPr>
        <p:txBody>
          <a:bodyPr wrap="square">
            <a:spAutoFit/>
          </a:bodyPr>
          <a:lstStyle/>
          <a:p>
            <a:pPr algn="ctr"/>
            <a:r>
              <a:rPr sz="1300" b="0" i="0">
                <a:solidFill>
                  <a:srgbClr val="FFFFFF"/>
                </a:solidFill>
              </a:rPr>
              <a:t>7.7 s</a:t>
            </a:r>
          </a:p>
        </p:txBody>
      </p:sp>
      <p:sp>
        <p:nvSpPr>
          <p:cNvPr id="49" name="Rectangle 48"/>
          <p:cNvSpPr/>
          <p:nvPr/>
        </p:nvSpPr>
        <p:spPr>
          <a:xfrm>
            <a:off x="2944368" y="4317274"/>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980944" y="4353850"/>
            <a:ext cx="1261872" cy="651836"/>
          </a:xfrm>
          <a:prstGeom prst="rect">
            <a:avLst/>
          </a:prstGeom>
          <a:noFill/>
        </p:spPr>
        <p:txBody>
          <a:bodyPr wrap="square">
            <a:spAutoFit/>
          </a:bodyPr>
          <a:lstStyle/>
          <a:p>
            <a:pPr algn="ctr"/>
            <a:r>
              <a:rPr sz="1300" b="0" i="0">
                <a:solidFill>
                  <a:srgbClr val="FFFFFF"/>
                </a:solidFill>
              </a:rPr>
              <a:t>46 ms</a:t>
            </a:r>
          </a:p>
        </p:txBody>
      </p:sp>
      <p:sp>
        <p:nvSpPr>
          <p:cNvPr id="51" name="Rectangle 50"/>
          <p:cNvSpPr/>
          <p:nvPr/>
        </p:nvSpPr>
        <p:spPr>
          <a:xfrm>
            <a:off x="4279392" y="4317274"/>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315968" y="4353850"/>
            <a:ext cx="1261872" cy="651836"/>
          </a:xfrm>
          <a:prstGeom prst="rect">
            <a:avLst/>
          </a:prstGeom>
          <a:noFill/>
        </p:spPr>
        <p:txBody>
          <a:bodyPr wrap="square">
            <a:spAutoFit/>
          </a:bodyPr>
          <a:lstStyle/>
          <a:p>
            <a:pPr algn="ctr"/>
            <a:r>
              <a:rPr sz="1300" b="0" i="0">
                <a:solidFill>
                  <a:srgbClr val="FFFFFF"/>
                </a:solidFill>
              </a:rPr>
              <a:t>23 ms</a:t>
            </a:r>
          </a:p>
        </p:txBody>
      </p:sp>
      <p:sp>
        <p:nvSpPr>
          <p:cNvPr id="53" name="Rectangle 52"/>
          <p:cNvSpPr/>
          <p:nvPr/>
        </p:nvSpPr>
        <p:spPr>
          <a:xfrm>
            <a:off x="5614416" y="4317274"/>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650992" y="4353850"/>
            <a:ext cx="1261872" cy="651836"/>
          </a:xfrm>
          <a:prstGeom prst="rect">
            <a:avLst/>
          </a:prstGeom>
          <a:noFill/>
        </p:spPr>
        <p:txBody>
          <a:bodyPr wrap="square">
            <a:spAutoFit/>
          </a:bodyPr>
          <a:lstStyle/>
          <a:p>
            <a:pPr algn="ctr"/>
            <a:r>
              <a:rPr sz="1300" b="0" i="0">
                <a:solidFill>
                  <a:srgbClr val="FFFFFF"/>
                </a:solidFill>
              </a:rPr>
              <a:t>6.3 ms</a:t>
            </a:r>
          </a:p>
        </p:txBody>
      </p:sp>
      <p:sp>
        <p:nvSpPr>
          <p:cNvPr id="55" name="Rectangle 54"/>
          <p:cNvSpPr/>
          <p:nvPr/>
        </p:nvSpPr>
        <p:spPr>
          <a:xfrm>
            <a:off x="274320" y="5042262"/>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10896" y="5078838"/>
            <a:ext cx="1261872" cy="651836"/>
          </a:xfrm>
          <a:prstGeom prst="rect">
            <a:avLst/>
          </a:prstGeom>
          <a:noFill/>
        </p:spPr>
        <p:txBody>
          <a:bodyPr wrap="square">
            <a:spAutoFit/>
          </a:bodyPr>
          <a:lstStyle/>
          <a:p>
            <a:pPr algn="ctr"/>
            <a:r>
              <a:rPr sz="1300" b="0" i="0">
                <a:solidFill>
                  <a:srgbClr val="FFFFFF"/>
                </a:solidFill>
              </a:rPr>
              <a:t>80</a:t>
            </a:r>
          </a:p>
        </p:txBody>
      </p:sp>
      <p:sp>
        <p:nvSpPr>
          <p:cNvPr id="57" name="Rectangle 56"/>
          <p:cNvSpPr/>
          <p:nvPr/>
        </p:nvSpPr>
        <p:spPr>
          <a:xfrm>
            <a:off x="1609344" y="5042262"/>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645920" y="5078838"/>
            <a:ext cx="1261872" cy="651836"/>
          </a:xfrm>
          <a:prstGeom prst="rect">
            <a:avLst/>
          </a:prstGeom>
          <a:noFill/>
        </p:spPr>
        <p:txBody>
          <a:bodyPr wrap="square">
            <a:spAutoFit/>
          </a:bodyPr>
          <a:lstStyle/>
          <a:p>
            <a:pPr algn="ctr"/>
            <a:r>
              <a:rPr sz="1300" b="0" i="0">
                <a:solidFill>
                  <a:srgbClr val="FFFFFF"/>
                </a:solidFill>
              </a:rPr>
              <a:t>—</a:t>
            </a:r>
          </a:p>
        </p:txBody>
      </p:sp>
      <p:sp>
        <p:nvSpPr>
          <p:cNvPr id="59" name="Rectangle 58"/>
          <p:cNvSpPr/>
          <p:nvPr/>
        </p:nvSpPr>
        <p:spPr>
          <a:xfrm>
            <a:off x="2944368" y="5042262"/>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980944" y="5078838"/>
            <a:ext cx="1261872" cy="651836"/>
          </a:xfrm>
          <a:prstGeom prst="rect">
            <a:avLst/>
          </a:prstGeom>
          <a:noFill/>
        </p:spPr>
        <p:txBody>
          <a:bodyPr wrap="square">
            <a:spAutoFit/>
          </a:bodyPr>
          <a:lstStyle/>
          <a:p>
            <a:pPr algn="ctr"/>
            <a:r>
              <a:rPr sz="1300" b="0" i="0">
                <a:solidFill>
                  <a:srgbClr val="FFFFFF"/>
                </a:solidFill>
              </a:rPr>
              <a:t>—</a:t>
            </a:r>
          </a:p>
        </p:txBody>
      </p:sp>
      <p:sp>
        <p:nvSpPr>
          <p:cNvPr id="61" name="Rectangle 60"/>
          <p:cNvSpPr/>
          <p:nvPr/>
        </p:nvSpPr>
        <p:spPr>
          <a:xfrm>
            <a:off x="4279392" y="5042262"/>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315968" y="5078838"/>
            <a:ext cx="1261872" cy="651836"/>
          </a:xfrm>
          <a:prstGeom prst="rect">
            <a:avLst/>
          </a:prstGeom>
          <a:noFill/>
        </p:spPr>
        <p:txBody>
          <a:bodyPr wrap="square">
            <a:spAutoFit/>
          </a:bodyPr>
          <a:lstStyle/>
          <a:p>
            <a:pPr algn="ctr"/>
            <a:r>
              <a:rPr sz="1300" b="0" i="0">
                <a:solidFill>
                  <a:srgbClr val="FFFFFF"/>
                </a:solidFill>
              </a:rPr>
              <a:t>34 ms – 2.7 s</a:t>
            </a:r>
          </a:p>
        </p:txBody>
      </p:sp>
      <p:sp>
        <p:nvSpPr>
          <p:cNvPr id="63" name="Rectangle 62"/>
          <p:cNvSpPr/>
          <p:nvPr/>
        </p:nvSpPr>
        <p:spPr>
          <a:xfrm>
            <a:off x="5614416" y="5042262"/>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650992" y="5078838"/>
            <a:ext cx="1261872" cy="651836"/>
          </a:xfrm>
          <a:prstGeom prst="rect">
            <a:avLst/>
          </a:prstGeom>
          <a:noFill/>
        </p:spPr>
        <p:txBody>
          <a:bodyPr wrap="square">
            <a:spAutoFit/>
          </a:bodyPr>
          <a:lstStyle/>
          <a:p>
            <a:pPr algn="ctr"/>
            <a:r>
              <a:rPr sz="1300" b="0" i="0">
                <a:solidFill>
                  <a:srgbClr val="FFFFFF"/>
                </a:solidFill>
              </a:rPr>
              <a:t>11 ms</a:t>
            </a:r>
          </a:p>
        </p:txBody>
      </p:sp>
      <p:sp>
        <p:nvSpPr>
          <p:cNvPr id="65" name="Rectangle 64"/>
          <p:cNvSpPr/>
          <p:nvPr/>
        </p:nvSpPr>
        <p:spPr>
          <a:xfrm>
            <a:off x="274320" y="5767251"/>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10896" y="5803827"/>
            <a:ext cx="1261872" cy="651836"/>
          </a:xfrm>
          <a:prstGeom prst="rect">
            <a:avLst/>
          </a:prstGeom>
          <a:noFill/>
        </p:spPr>
        <p:txBody>
          <a:bodyPr wrap="square">
            <a:spAutoFit/>
          </a:bodyPr>
          <a:lstStyle/>
          <a:p>
            <a:pPr algn="ctr"/>
            <a:r>
              <a:rPr sz="1300" b="0" i="0">
                <a:solidFill>
                  <a:srgbClr val="FFFFFF"/>
                </a:solidFill>
              </a:rPr>
              <a:t>100</a:t>
            </a:r>
          </a:p>
        </p:txBody>
      </p:sp>
      <p:sp>
        <p:nvSpPr>
          <p:cNvPr id="67" name="Rectangle 66"/>
          <p:cNvSpPr/>
          <p:nvPr/>
        </p:nvSpPr>
        <p:spPr>
          <a:xfrm>
            <a:off x="1609344" y="5767251"/>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645920" y="5803827"/>
            <a:ext cx="1261872" cy="651836"/>
          </a:xfrm>
          <a:prstGeom prst="rect">
            <a:avLst/>
          </a:prstGeom>
          <a:noFill/>
        </p:spPr>
        <p:txBody>
          <a:bodyPr wrap="square">
            <a:spAutoFit/>
          </a:bodyPr>
          <a:lstStyle/>
          <a:p>
            <a:pPr algn="ctr"/>
            <a:r>
              <a:rPr sz="1300" b="0" i="0">
                <a:solidFill>
                  <a:srgbClr val="FFFFFF"/>
                </a:solidFill>
              </a:rPr>
              <a:t>—</a:t>
            </a:r>
          </a:p>
        </p:txBody>
      </p:sp>
      <p:sp>
        <p:nvSpPr>
          <p:cNvPr id="69" name="Rectangle 68"/>
          <p:cNvSpPr/>
          <p:nvPr/>
        </p:nvSpPr>
        <p:spPr>
          <a:xfrm>
            <a:off x="2944368" y="5767251"/>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980944" y="5803827"/>
            <a:ext cx="1261872" cy="651836"/>
          </a:xfrm>
          <a:prstGeom prst="rect">
            <a:avLst/>
          </a:prstGeom>
          <a:noFill/>
        </p:spPr>
        <p:txBody>
          <a:bodyPr wrap="square">
            <a:spAutoFit/>
          </a:bodyPr>
          <a:lstStyle/>
          <a:p>
            <a:pPr algn="ctr"/>
            <a:r>
              <a:rPr sz="1300" b="0" i="0">
                <a:solidFill>
                  <a:srgbClr val="FFFFFF"/>
                </a:solidFill>
              </a:rPr>
              <a:t>—</a:t>
            </a:r>
          </a:p>
        </p:txBody>
      </p:sp>
      <p:sp>
        <p:nvSpPr>
          <p:cNvPr id="71" name="Rectangle 70"/>
          <p:cNvSpPr/>
          <p:nvPr/>
        </p:nvSpPr>
        <p:spPr>
          <a:xfrm>
            <a:off x="4279392" y="5767251"/>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315968" y="5803827"/>
            <a:ext cx="1261872" cy="651836"/>
          </a:xfrm>
          <a:prstGeom prst="rect">
            <a:avLst/>
          </a:prstGeom>
          <a:noFill/>
        </p:spPr>
        <p:txBody>
          <a:bodyPr wrap="square">
            <a:spAutoFit/>
          </a:bodyPr>
          <a:lstStyle/>
          <a:p>
            <a:pPr algn="ctr"/>
            <a:r>
              <a:rPr sz="1300" b="0" i="0">
                <a:solidFill>
                  <a:srgbClr val="FFFFFF"/>
                </a:solidFill>
              </a:rPr>
              <a:t>5.3 – 14.4 s</a:t>
            </a:r>
          </a:p>
        </p:txBody>
      </p:sp>
      <p:sp>
        <p:nvSpPr>
          <p:cNvPr id="73" name="Rectangle 72"/>
          <p:cNvSpPr/>
          <p:nvPr/>
        </p:nvSpPr>
        <p:spPr>
          <a:xfrm>
            <a:off x="5614416" y="5767251"/>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650992" y="5803827"/>
            <a:ext cx="1261872" cy="651836"/>
          </a:xfrm>
          <a:prstGeom prst="rect">
            <a:avLst/>
          </a:prstGeom>
          <a:noFill/>
        </p:spPr>
        <p:txBody>
          <a:bodyPr wrap="square">
            <a:spAutoFit/>
          </a:bodyPr>
          <a:lstStyle/>
          <a:p>
            <a:pPr algn="ctr"/>
            <a:r>
              <a:rPr sz="1300" b="0" i="0">
                <a:solidFill>
                  <a:srgbClr val="FFFFFF"/>
                </a:solidFill>
              </a:rPr>
              <a:t>46 ms</a:t>
            </a:r>
          </a:p>
        </p:txBody>
      </p:sp>
      <p:sp>
        <p:nvSpPr>
          <p:cNvPr id="75" name="Rectangle 74"/>
          <p:cNvSpPr/>
          <p:nvPr/>
        </p:nvSpPr>
        <p:spPr>
          <a:xfrm>
            <a:off x="7178040" y="1417320"/>
            <a:ext cx="4663440" cy="333756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342632" y="1554480"/>
            <a:ext cx="4334256" cy="3063240"/>
          </a:xfrm>
          <a:prstGeom prst="rect">
            <a:avLst/>
          </a:prstGeom>
          <a:noFill/>
        </p:spPr>
        <p:txBody>
          <a:bodyPr wrap="square">
            <a:spAutoFit/>
          </a:bodyPr>
          <a:lstStyle/>
          <a:p>
            <a:pPr algn="l"/>
            <a:r>
              <a:rPr sz="1700" b="1">
                <a:solidFill>
                  <a:srgbClr val="00C2B2"/>
                </a:solidFill>
              </a:rPr>
              <a:t>The flat-then-vertical shape</a:t>
            </a:r>
          </a:p>
          <a:p>
            <a:pPr algn="l"/>
            <a:r>
              <a:rPr sz="1600">
                <a:solidFill>
                  <a:srgbClr val="FFFFFF"/>
                </a:solidFill>
              </a:rPr>
              <a:t>▸ edge1 (0.5 core) stays within 10 ms of its 5 ms network RTT up to 40 players</a:t>
            </a:r>
          </a:p>
          <a:p>
            <a:pPr algn="l"/>
            <a:r>
              <a:rPr sz="1600">
                <a:solidFill>
                  <a:srgbClr val="FFFFFF"/>
                </a:solidFill>
              </a:rPr>
              <a:t>▸ Between 40 and 60 players its p95 jumps to 6.7–8.6 s</a:t>
            </a:r>
          </a:p>
          <a:p>
            <a:pPr algn="l"/>
            <a:r>
              <a:rPr sz="1600">
                <a:solidFill>
                  <a:srgbClr val="FFFFFF"/>
                </a:solidFill>
              </a:rPr>
              <a:t>▸ edge2 (1 core) is flat to 60 players, breaks between 80 and 100</a:t>
            </a:r>
          </a:p>
          <a:p>
            <a:pPr algn="l"/>
            <a:r>
              <a:rPr sz="1600">
                <a:solidFill>
                  <a:srgbClr val="FFFFFF"/>
                </a:solidFill>
              </a:rPr>
              <a:t>▸ edge3 and cloud never reach a knee within 100 players</a:t>
            </a:r>
          </a:p>
          <a:p>
            <a:pPr algn="l"/>
            <a:r>
              <a:rPr sz="1600">
                <a:solidFill>
                  <a:srgbClr val="FFFFFF"/>
                </a:solidFill>
              </a:rPr>
              <a:t>▸ ICMP never moved more than 0.3 ms in any cell</a:t>
            </a:r>
          </a:p>
        </p:txBody>
      </p:sp>
      <p:sp>
        <p:nvSpPr>
          <p:cNvPr id="77" name="Rectangle 76"/>
          <p:cNvSpPr/>
          <p:nvPr/>
        </p:nvSpPr>
        <p:spPr>
          <a:xfrm>
            <a:off x="7178040" y="4892040"/>
            <a:ext cx="4663440" cy="1600200"/>
          </a:xfrm>
          <a:prstGeom prst="rect">
            <a:avLst/>
          </a:prstGeom>
          <a:solidFill>
            <a:srgbClr val="040D14"/>
          </a:solidFill>
          <a:ln w="12700">
            <a:solidFill>
              <a:srgbClr val="7B6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315200" y="4983480"/>
            <a:ext cx="4389120" cy="1417320"/>
          </a:xfrm>
          <a:prstGeom prst="rect">
            <a:avLst/>
          </a:prstGeom>
          <a:noFill/>
        </p:spPr>
        <p:txBody>
          <a:bodyPr wrap="square">
            <a:spAutoFit/>
          </a:bodyPr>
          <a:lstStyle/>
          <a:p>
            <a:pPr algn="ctr"/>
            <a:r>
              <a:rPr sz="1500" b="0" i="1">
                <a:solidFill>
                  <a:srgbClr val="00C2B2"/>
                </a:solidFill>
              </a:rPr>
              <a:t>The tail breaks first</a:t>
            </a:r>
          </a:p>
          <a:p>
            <a:pPr algn="ctr"/>
            <a:r>
              <a:rPr sz="1500" b="0" i="1">
                <a:solidFill>
                  <a:srgbClr val="00C2B2"/>
                </a:solidFill>
              </a:rPr>
              <a:t>▸ edge1 at 50 players: MSPT 6.5 ms, 1/8 of the budget</a:t>
            </a:r>
          </a:p>
          <a:p>
            <a:pPr algn="ctr"/>
            <a:r>
              <a:rPr sz="1500" b="0" i="1">
                <a:solidFill>
                  <a:srgbClr val="00C2B2"/>
                </a:solidFill>
              </a:rPr>
              <a:t>▸ p95 already 47–308 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Rank Inversion: One Match, Which Node?</a:t>
            </a:r>
          </a:p>
        </p:txBody>
      </p:sp>
      <p:sp>
        <p:nvSpPr>
          <p:cNvPr id="4" name="TextBox 3"/>
          <p:cNvSpPr txBox="1"/>
          <p:nvPr/>
        </p:nvSpPr>
        <p:spPr>
          <a:xfrm>
            <a:off x="274320" y="914400"/>
            <a:ext cx="11704320" cy="365760"/>
          </a:xfrm>
          <a:prstGeom prst="rect">
            <a:avLst/>
          </a:prstGeom>
          <a:noFill/>
        </p:spPr>
        <p:txBody>
          <a:bodyPr wrap="square">
            <a:spAutoFit/>
          </a:bodyPr>
          <a:lstStyle/>
          <a:p>
            <a:pPr algn="l"/>
            <a:r>
              <a:rPr sz="1500" b="0" i="1">
                <a:solidFill>
                  <a:srgbClr val="00C2B2"/>
                </a:solidFill>
              </a:rPr>
              <a:t>The load-blind model always picks the nearest node. Right to 40 players, wrong at 60.</a:t>
            </a:r>
          </a:p>
        </p:txBody>
      </p:sp>
      <p:sp>
        <p:nvSpPr>
          <p:cNvPr id="5" name="Rectangle 4"/>
          <p:cNvSpPr/>
          <p:nvPr/>
        </p:nvSpPr>
        <p:spPr>
          <a:xfrm>
            <a:off x="274320" y="1417320"/>
            <a:ext cx="1408176" cy="607422"/>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10896" y="1453896"/>
            <a:ext cx="1335024" cy="534270"/>
          </a:xfrm>
          <a:prstGeom prst="rect">
            <a:avLst/>
          </a:prstGeom>
          <a:noFill/>
        </p:spPr>
        <p:txBody>
          <a:bodyPr wrap="square">
            <a:spAutoFit/>
          </a:bodyPr>
          <a:lstStyle/>
          <a:p>
            <a:pPr algn="ctr"/>
            <a:r>
              <a:rPr sz="1500" b="1" i="0">
                <a:solidFill>
                  <a:srgbClr val="0D1B2A"/>
                </a:solidFill>
              </a:rPr>
              <a:t>Players</a:t>
            </a:r>
          </a:p>
        </p:txBody>
      </p:sp>
      <p:sp>
        <p:nvSpPr>
          <p:cNvPr id="7" name="Rectangle 6"/>
          <p:cNvSpPr/>
          <p:nvPr/>
        </p:nvSpPr>
        <p:spPr>
          <a:xfrm>
            <a:off x="1682496" y="1417320"/>
            <a:ext cx="1408176" cy="607422"/>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19072" y="1453896"/>
            <a:ext cx="1335024" cy="534270"/>
          </a:xfrm>
          <a:prstGeom prst="rect">
            <a:avLst/>
          </a:prstGeom>
          <a:noFill/>
        </p:spPr>
        <p:txBody>
          <a:bodyPr wrap="square">
            <a:spAutoFit/>
          </a:bodyPr>
          <a:lstStyle/>
          <a:p>
            <a:pPr algn="ctr"/>
            <a:r>
              <a:rPr sz="1500" b="1" i="0">
                <a:solidFill>
                  <a:srgbClr val="0D1B2A"/>
                </a:solidFill>
              </a:rPr>
              <a:t>edge1 p95</a:t>
            </a:r>
          </a:p>
        </p:txBody>
      </p:sp>
      <p:sp>
        <p:nvSpPr>
          <p:cNvPr id="9" name="Rectangle 8"/>
          <p:cNvSpPr/>
          <p:nvPr/>
        </p:nvSpPr>
        <p:spPr>
          <a:xfrm>
            <a:off x="3090672" y="1417320"/>
            <a:ext cx="1408176" cy="607422"/>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27248" y="1453896"/>
            <a:ext cx="1335024" cy="534270"/>
          </a:xfrm>
          <a:prstGeom prst="rect">
            <a:avLst/>
          </a:prstGeom>
          <a:noFill/>
        </p:spPr>
        <p:txBody>
          <a:bodyPr wrap="square">
            <a:spAutoFit/>
          </a:bodyPr>
          <a:lstStyle/>
          <a:p>
            <a:pPr algn="ctr"/>
            <a:r>
              <a:rPr sz="1500" b="1" i="0">
                <a:solidFill>
                  <a:srgbClr val="0D1B2A"/>
                </a:solidFill>
              </a:rPr>
              <a:t>edge2 p95</a:t>
            </a:r>
          </a:p>
        </p:txBody>
      </p:sp>
      <p:sp>
        <p:nvSpPr>
          <p:cNvPr id="11" name="Rectangle 10"/>
          <p:cNvSpPr/>
          <p:nvPr/>
        </p:nvSpPr>
        <p:spPr>
          <a:xfrm>
            <a:off x="4498848" y="1417320"/>
            <a:ext cx="1408176" cy="607422"/>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35424" y="1453896"/>
            <a:ext cx="1335024" cy="534270"/>
          </a:xfrm>
          <a:prstGeom prst="rect">
            <a:avLst/>
          </a:prstGeom>
          <a:noFill/>
        </p:spPr>
        <p:txBody>
          <a:bodyPr wrap="square">
            <a:spAutoFit/>
          </a:bodyPr>
          <a:lstStyle/>
          <a:p>
            <a:pPr algn="ctr"/>
            <a:r>
              <a:rPr sz="1500" b="1" i="0">
                <a:solidFill>
                  <a:srgbClr val="0D1B2A"/>
                </a:solidFill>
              </a:rPr>
              <a:t>Model picks</a:t>
            </a:r>
          </a:p>
        </p:txBody>
      </p:sp>
      <p:sp>
        <p:nvSpPr>
          <p:cNvPr id="13" name="Rectangle 12"/>
          <p:cNvSpPr/>
          <p:nvPr/>
        </p:nvSpPr>
        <p:spPr>
          <a:xfrm>
            <a:off x="5907024" y="1417320"/>
            <a:ext cx="1408176" cy="607422"/>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0" y="1453896"/>
            <a:ext cx="1335024" cy="534270"/>
          </a:xfrm>
          <a:prstGeom prst="rect">
            <a:avLst/>
          </a:prstGeom>
          <a:noFill/>
        </p:spPr>
        <p:txBody>
          <a:bodyPr wrap="square">
            <a:spAutoFit/>
          </a:bodyPr>
          <a:lstStyle/>
          <a:p>
            <a:pPr algn="ctr"/>
            <a:r>
              <a:rPr sz="1500" b="1" i="0">
                <a:solidFill>
                  <a:srgbClr val="0D1B2A"/>
                </a:solidFill>
              </a:rPr>
              <a:t>Measured best</a:t>
            </a:r>
          </a:p>
        </p:txBody>
      </p:sp>
      <p:sp>
        <p:nvSpPr>
          <p:cNvPr id="15" name="Rectangle 14"/>
          <p:cNvSpPr/>
          <p:nvPr/>
        </p:nvSpPr>
        <p:spPr>
          <a:xfrm>
            <a:off x="274320" y="2024742"/>
            <a:ext cx="1408176" cy="607422"/>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0896" y="2061318"/>
            <a:ext cx="1335024" cy="534270"/>
          </a:xfrm>
          <a:prstGeom prst="rect">
            <a:avLst/>
          </a:prstGeom>
          <a:noFill/>
        </p:spPr>
        <p:txBody>
          <a:bodyPr wrap="square">
            <a:spAutoFit/>
          </a:bodyPr>
          <a:lstStyle/>
          <a:p>
            <a:pPr algn="ctr"/>
            <a:r>
              <a:rPr sz="1400" b="0" i="0">
                <a:solidFill>
                  <a:srgbClr val="FFFFFF"/>
                </a:solidFill>
              </a:rPr>
              <a:t>1</a:t>
            </a:r>
          </a:p>
        </p:txBody>
      </p:sp>
      <p:sp>
        <p:nvSpPr>
          <p:cNvPr id="17" name="Rectangle 16"/>
          <p:cNvSpPr/>
          <p:nvPr/>
        </p:nvSpPr>
        <p:spPr>
          <a:xfrm>
            <a:off x="1682496" y="2024742"/>
            <a:ext cx="1408176" cy="607422"/>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19072" y="2061318"/>
            <a:ext cx="1335024" cy="534270"/>
          </a:xfrm>
          <a:prstGeom prst="rect">
            <a:avLst/>
          </a:prstGeom>
          <a:noFill/>
        </p:spPr>
        <p:txBody>
          <a:bodyPr wrap="square">
            <a:spAutoFit/>
          </a:bodyPr>
          <a:lstStyle/>
          <a:p>
            <a:pPr algn="ctr"/>
            <a:r>
              <a:rPr sz="1400" b="0" i="0">
                <a:solidFill>
                  <a:srgbClr val="FFFFFF"/>
                </a:solidFill>
              </a:rPr>
              <a:t>6 ms</a:t>
            </a:r>
          </a:p>
        </p:txBody>
      </p:sp>
      <p:sp>
        <p:nvSpPr>
          <p:cNvPr id="19" name="Rectangle 18"/>
          <p:cNvSpPr/>
          <p:nvPr/>
        </p:nvSpPr>
        <p:spPr>
          <a:xfrm>
            <a:off x="3090672" y="2024742"/>
            <a:ext cx="1408176" cy="607422"/>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27248" y="2061318"/>
            <a:ext cx="1335024" cy="534270"/>
          </a:xfrm>
          <a:prstGeom prst="rect">
            <a:avLst/>
          </a:prstGeom>
          <a:noFill/>
        </p:spPr>
        <p:txBody>
          <a:bodyPr wrap="square">
            <a:spAutoFit/>
          </a:bodyPr>
          <a:lstStyle/>
          <a:p>
            <a:pPr algn="ctr"/>
            <a:r>
              <a:rPr sz="1400" b="0" i="0">
                <a:solidFill>
                  <a:srgbClr val="FFFFFF"/>
                </a:solidFill>
              </a:rPr>
              <a:t>16 ms</a:t>
            </a:r>
          </a:p>
        </p:txBody>
      </p:sp>
      <p:sp>
        <p:nvSpPr>
          <p:cNvPr id="21" name="Rectangle 20"/>
          <p:cNvSpPr/>
          <p:nvPr/>
        </p:nvSpPr>
        <p:spPr>
          <a:xfrm>
            <a:off x="4498848" y="2024742"/>
            <a:ext cx="1408176" cy="607422"/>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35424" y="2061318"/>
            <a:ext cx="1335024" cy="534270"/>
          </a:xfrm>
          <a:prstGeom prst="rect">
            <a:avLst/>
          </a:prstGeom>
          <a:noFill/>
        </p:spPr>
        <p:txBody>
          <a:bodyPr wrap="square">
            <a:spAutoFit/>
          </a:bodyPr>
          <a:lstStyle/>
          <a:p>
            <a:pPr algn="ctr"/>
            <a:r>
              <a:rPr sz="1400" b="0" i="0">
                <a:solidFill>
                  <a:srgbClr val="FFFFFF"/>
                </a:solidFill>
              </a:rPr>
              <a:t>edge1 ✓</a:t>
            </a:r>
          </a:p>
        </p:txBody>
      </p:sp>
      <p:sp>
        <p:nvSpPr>
          <p:cNvPr id="23" name="Rectangle 22"/>
          <p:cNvSpPr/>
          <p:nvPr/>
        </p:nvSpPr>
        <p:spPr>
          <a:xfrm>
            <a:off x="5907024" y="2024742"/>
            <a:ext cx="1408176" cy="607422"/>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0" y="2061318"/>
            <a:ext cx="1335024" cy="534270"/>
          </a:xfrm>
          <a:prstGeom prst="rect">
            <a:avLst/>
          </a:prstGeom>
          <a:noFill/>
        </p:spPr>
        <p:txBody>
          <a:bodyPr wrap="square">
            <a:spAutoFit/>
          </a:bodyPr>
          <a:lstStyle/>
          <a:p>
            <a:pPr algn="ctr"/>
            <a:r>
              <a:rPr sz="1400" b="0" i="0">
                <a:solidFill>
                  <a:srgbClr val="FFFFFF"/>
                </a:solidFill>
              </a:rPr>
              <a:t>edge1</a:t>
            </a:r>
          </a:p>
        </p:txBody>
      </p:sp>
      <p:sp>
        <p:nvSpPr>
          <p:cNvPr id="25" name="Rectangle 24"/>
          <p:cNvSpPr/>
          <p:nvPr/>
        </p:nvSpPr>
        <p:spPr>
          <a:xfrm>
            <a:off x="274320" y="2632165"/>
            <a:ext cx="1408176" cy="607422"/>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0896" y="2668741"/>
            <a:ext cx="1335024" cy="534270"/>
          </a:xfrm>
          <a:prstGeom prst="rect">
            <a:avLst/>
          </a:prstGeom>
          <a:noFill/>
        </p:spPr>
        <p:txBody>
          <a:bodyPr wrap="square">
            <a:spAutoFit/>
          </a:bodyPr>
          <a:lstStyle/>
          <a:p>
            <a:pPr algn="ctr"/>
            <a:r>
              <a:rPr sz="1400" b="0" i="0">
                <a:solidFill>
                  <a:srgbClr val="FFFFFF"/>
                </a:solidFill>
              </a:rPr>
              <a:t>20</a:t>
            </a:r>
          </a:p>
        </p:txBody>
      </p:sp>
      <p:sp>
        <p:nvSpPr>
          <p:cNvPr id="27" name="Rectangle 26"/>
          <p:cNvSpPr/>
          <p:nvPr/>
        </p:nvSpPr>
        <p:spPr>
          <a:xfrm>
            <a:off x="1682496" y="2632165"/>
            <a:ext cx="1408176" cy="607422"/>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719072" y="2668741"/>
            <a:ext cx="1335024" cy="534270"/>
          </a:xfrm>
          <a:prstGeom prst="rect">
            <a:avLst/>
          </a:prstGeom>
          <a:noFill/>
        </p:spPr>
        <p:txBody>
          <a:bodyPr wrap="square">
            <a:spAutoFit/>
          </a:bodyPr>
          <a:lstStyle/>
          <a:p>
            <a:pPr algn="ctr"/>
            <a:r>
              <a:rPr sz="1400" b="0" i="0">
                <a:solidFill>
                  <a:srgbClr val="FFFFFF"/>
                </a:solidFill>
              </a:rPr>
              <a:t>8.5 ms</a:t>
            </a:r>
          </a:p>
        </p:txBody>
      </p:sp>
      <p:sp>
        <p:nvSpPr>
          <p:cNvPr id="29" name="Rectangle 28"/>
          <p:cNvSpPr/>
          <p:nvPr/>
        </p:nvSpPr>
        <p:spPr>
          <a:xfrm>
            <a:off x="3090672" y="2632165"/>
            <a:ext cx="1408176" cy="607422"/>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27248" y="2668741"/>
            <a:ext cx="1335024" cy="534270"/>
          </a:xfrm>
          <a:prstGeom prst="rect">
            <a:avLst/>
          </a:prstGeom>
          <a:noFill/>
        </p:spPr>
        <p:txBody>
          <a:bodyPr wrap="square">
            <a:spAutoFit/>
          </a:bodyPr>
          <a:lstStyle/>
          <a:p>
            <a:pPr algn="ctr"/>
            <a:r>
              <a:rPr sz="1400" b="0" i="0">
                <a:solidFill>
                  <a:srgbClr val="FFFFFF"/>
                </a:solidFill>
              </a:rPr>
              <a:t>17.5 ms</a:t>
            </a:r>
          </a:p>
        </p:txBody>
      </p:sp>
      <p:sp>
        <p:nvSpPr>
          <p:cNvPr id="31" name="Rectangle 30"/>
          <p:cNvSpPr/>
          <p:nvPr/>
        </p:nvSpPr>
        <p:spPr>
          <a:xfrm>
            <a:off x="4498848" y="2632165"/>
            <a:ext cx="1408176" cy="607422"/>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35424" y="2668741"/>
            <a:ext cx="1335024" cy="534270"/>
          </a:xfrm>
          <a:prstGeom prst="rect">
            <a:avLst/>
          </a:prstGeom>
          <a:noFill/>
        </p:spPr>
        <p:txBody>
          <a:bodyPr wrap="square">
            <a:spAutoFit/>
          </a:bodyPr>
          <a:lstStyle/>
          <a:p>
            <a:pPr algn="ctr"/>
            <a:r>
              <a:rPr sz="1400" b="0" i="0">
                <a:solidFill>
                  <a:srgbClr val="FFFFFF"/>
                </a:solidFill>
              </a:rPr>
              <a:t>edge1 ✓</a:t>
            </a:r>
          </a:p>
        </p:txBody>
      </p:sp>
      <p:sp>
        <p:nvSpPr>
          <p:cNvPr id="33" name="Rectangle 32"/>
          <p:cNvSpPr/>
          <p:nvPr/>
        </p:nvSpPr>
        <p:spPr>
          <a:xfrm>
            <a:off x="5907024" y="2632165"/>
            <a:ext cx="1408176" cy="607422"/>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43600" y="2668741"/>
            <a:ext cx="1335024" cy="534270"/>
          </a:xfrm>
          <a:prstGeom prst="rect">
            <a:avLst/>
          </a:prstGeom>
          <a:noFill/>
        </p:spPr>
        <p:txBody>
          <a:bodyPr wrap="square">
            <a:spAutoFit/>
          </a:bodyPr>
          <a:lstStyle/>
          <a:p>
            <a:pPr algn="ctr"/>
            <a:r>
              <a:rPr sz="1400" b="0" i="0">
                <a:solidFill>
                  <a:srgbClr val="FFFFFF"/>
                </a:solidFill>
              </a:rPr>
              <a:t>edge1</a:t>
            </a:r>
          </a:p>
        </p:txBody>
      </p:sp>
      <p:sp>
        <p:nvSpPr>
          <p:cNvPr id="35" name="Rectangle 34"/>
          <p:cNvSpPr/>
          <p:nvPr/>
        </p:nvSpPr>
        <p:spPr>
          <a:xfrm>
            <a:off x="274320" y="3239588"/>
            <a:ext cx="1408176" cy="607422"/>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10896" y="3276164"/>
            <a:ext cx="1335024" cy="534270"/>
          </a:xfrm>
          <a:prstGeom prst="rect">
            <a:avLst/>
          </a:prstGeom>
          <a:noFill/>
        </p:spPr>
        <p:txBody>
          <a:bodyPr wrap="square">
            <a:spAutoFit/>
          </a:bodyPr>
          <a:lstStyle/>
          <a:p>
            <a:pPr algn="ctr"/>
            <a:r>
              <a:rPr sz="1400" b="0" i="0">
                <a:solidFill>
                  <a:srgbClr val="FFFFFF"/>
                </a:solidFill>
              </a:rPr>
              <a:t>40</a:t>
            </a:r>
          </a:p>
        </p:txBody>
      </p:sp>
      <p:sp>
        <p:nvSpPr>
          <p:cNvPr id="37" name="Rectangle 36"/>
          <p:cNvSpPr/>
          <p:nvPr/>
        </p:nvSpPr>
        <p:spPr>
          <a:xfrm>
            <a:off x="1682496" y="3239588"/>
            <a:ext cx="1408176" cy="607422"/>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719072" y="3276164"/>
            <a:ext cx="1335024" cy="534270"/>
          </a:xfrm>
          <a:prstGeom prst="rect">
            <a:avLst/>
          </a:prstGeom>
          <a:noFill/>
        </p:spPr>
        <p:txBody>
          <a:bodyPr wrap="square">
            <a:spAutoFit/>
          </a:bodyPr>
          <a:lstStyle/>
          <a:p>
            <a:pPr algn="ctr"/>
            <a:r>
              <a:rPr sz="1400" b="0" i="0">
                <a:solidFill>
                  <a:srgbClr val="FFFFFF"/>
                </a:solidFill>
              </a:rPr>
              <a:t>14.5 ms</a:t>
            </a:r>
          </a:p>
        </p:txBody>
      </p:sp>
      <p:sp>
        <p:nvSpPr>
          <p:cNvPr id="39" name="Rectangle 38"/>
          <p:cNvSpPr/>
          <p:nvPr/>
        </p:nvSpPr>
        <p:spPr>
          <a:xfrm>
            <a:off x="3090672" y="3239588"/>
            <a:ext cx="1408176" cy="607422"/>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127248" y="3276164"/>
            <a:ext cx="1335024" cy="534270"/>
          </a:xfrm>
          <a:prstGeom prst="rect">
            <a:avLst/>
          </a:prstGeom>
          <a:noFill/>
        </p:spPr>
        <p:txBody>
          <a:bodyPr wrap="square">
            <a:spAutoFit/>
          </a:bodyPr>
          <a:lstStyle/>
          <a:p>
            <a:pPr algn="ctr"/>
            <a:r>
              <a:rPr sz="1400" b="0" i="0">
                <a:solidFill>
                  <a:srgbClr val="FFFFFF"/>
                </a:solidFill>
              </a:rPr>
              <a:t>21 ms</a:t>
            </a:r>
          </a:p>
        </p:txBody>
      </p:sp>
      <p:sp>
        <p:nvSpPr>
          <p:cNvPr id="41" name="Rectangle 40"/>
          <p:cNvSpPr/>
          <p:nvPr/>
        </p:nvSpPr>
        <p:spPr>
          <a:xfrm>
            <a:off x="4498848" y="3239588"/>
            <a:ext cx="1408176" cy="607422"/>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35424" y="3276164"/>
            <a:ext cx="1335024" cy="534270"/>
          </a:xfrm>
          <a:prstGeom prst="rect">
            <a:avLst/>
          </a:prstGeom>
          <a:noFill/>
        </p:spPr>
        <p:txBody>
          <a:bodyPr wrap="square">
            <a:spAutoFit/>
          </a:bodyPr>
          <a:lstStyle/>
          <a:p>
            <a:pPr algn="ctr"/>
            <a:r>
              <a:rPr sz="1400" b="0" i="0">
                <a:solidFill>
                  <a:srgbClr val="FFFFFF"/>
                </a:solidFill>
              </a:rPr>
              <a:t>edge1 ✓</a:t>
            </a:r>
          </a:p>
        </p:txBody>
      </p:sp>
      <p:sp>
        <p:nvSpPr>
          <p:cNvPr id="43" name="Rectangle 42"/>
          <p:cNvSpPr/>
          <p:nvPr/>
        </p:nvSpPr>
        <p:spPr>
          <a:xfrm>
            <a:off x="5907024" y="3239588"/>
            <a:ext cx="1408176" cy="607422"/>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943600" y="3276164"/>
            <a:ext cx="1335024" cy="534270"/>
          </a:xfrm>
          <a:prstGeom prst="rect">
            <a:avLst/>
          </a:prstGeom>
          <a:noFill/>
        </p:spPr>
        <p:txBody>
          <a:bodyPr wrap="square">
            <a:spAutoFit/>
          </a:bodyPr>
          <a:lstStyle/>
          <a:p>
            <a:pPr algn="ctr"/>
            <a:r>
              <a:rPr sz="1400" b="0" i="0">
                <a:solidFill>
                  <a:srgbClr val="FFFFFF"/>
                </a:solidFill>
              </a:rPr>
              <a:t>edge1</a:t>
            </a:r>
          </a:p>
        </p:txBody>
      </p:sp>
      <p:sp>
        <p:nvSpPr>
          <p:cNvPr id="45" name="Rectangle 44"/>
          <p:cNvSpPr/>
          <p:nvPr/>
        </p:nvSpPr>
        <p:spPr>
          <a:xfrm>
            <a:off x="274320" y="3847011"/>
            <a:ext cx="1408176" cy="607422"/>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10896" y="3883587"/>
            <a:ext cx="1335024" cy="534270"/>
          </a:xfrm>
          <a:prstGeom prst="rect">
            <a:avLst/>
          </a:prstGeom>
          <a:noFill/>
        </p:spPr>
        <p:txBody>
          <a:bodyPr wrap="square">
            <a:spAutoFit/>
          </a:bodyPr>
          <a:lstStyle/>
          <a:p>
            <a:pPr algn="ctr"/>
            <a:r>
              <a:rPr sz="1400" b="0" i="0">
                <a:solidFill>
                  <a:srgbClr val="FFFFFF"/>
                </a:solidFill>
              </a:rPr>
              <a:t>60</a:t>
            </a:r>
          </a:p>
        </p:txBody>
      </p:sp>
      <p:sp>
        <p:nvSpPr>
          <p:cNvPr id="47" name="Rectangle 46"/>
          <p:cNvSpPr/>
          <p:nvPr/>
        </p:nvSpPr>
        <p:spPr>
          <a:xfrm>
            <a:off x="1682496" y="3847011"/>
            <a:ext cx="1408176" cy="607422"/>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719072" y="3883587"/>
            <a:ext cx="1335024" cy="534270"/>
          </a:xfrm>
          <a:prstGeom prst="rect">
            <a:avLst/>
          </a:prstGeom>
          <a:noFill/>
        </p:spPr>
        <p:txBody>
          <a:bodyPr wrap="square">
            <a:spAutoFit/>
          </a:bodyPr>
          <a:lstStyle/>
          <a:p>
            <a:pPr algn="ctr"/>
            <a:r>
              <a:rPr sz="1400" b="0" i="0">
                <a:solidFill>
                  <a:srgbClr val="FFFFFF"/>
                </a:solidFill>
              </a:rPr>
              <a:t>7.7 s</a:t>
            </a:r>
          </a:p>
        </p:txBody>
      </p:sp>
      <p:sp>
        <p:nvSpPr>
          <p:cNvPr id="49" name="Rectangle 48"/>
          <p:cNvSpPr/>
          <p:nvPr/>
        </p:nvSpPr>
        <p:spPr>
          <a:xfrm>
            <a:off x="3090672" y="3847011"/>
            <a:ext cx="1408176" cy="607422"/>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127248" y="3883587"/>
            <a:ext cx="1335024" cy="534270"/>
          </a:xfrm>
          <a:prstGeom prst="rect">
            <a:avLst/>
          </a:prstGeom>
          <a:noFill/>
        </p:spPr>
        <p:txBody>
          <a:bodyPr wrap="square">
            <a:spAutoFit/>
          </a:bodyPr>
          <a:lstStyle/>
          <a:p>
            <a:pPr algn="ctr"/>
            <a:r>
              <a:rPr sz="1400" b="0" i="0">
                <a:solidFill>
                  <a:srgbClr val="FFFFFF"/>
                </a:solidFill>
              </a:rPr>
              <a:t>23 ms</a:t>
            </a:r>
          </a:p>
        </p:txBody>
      </p:sp>
      <p:sp>
        <p:nvSpPr>
          <p:cNvPr id="51" name="Rectangle 50"/>
          <p:cNvSpPr/>
          <p:nvPr/>
        </p:nvSpPr>
        <p:spPr>
          <a:xfrm>
            <a:off x="4498848" y="3847011"/>
            <a:ext cx="1408176" cy="607422"/>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35424" y="3883587"/>
            <a:ext cx="1335024" cy="534270"/>
          </a:xfrm>
          <a:prstGeom prst="rect">
            <a:avLst/>
          </a:prstGeom>
          <a:noFill/>
        </p:spPr>
        <p:txBody>
          <a:bodyPr wrap="square">
            <a:spAutoFit/>
          </a:bodyPr>
          <a:lstStyle/>
          <a:p>
            <a:pPr algn="ctr"/>
            <a:r>
              <a:rPr sz="1400" b="0" i="0">
                <a:solidFill>
                  <a:srgbClr val="FFFFFF"/>
                </a:solidFill>
              </a:rPr>
              <a:t>edge1 ✗</a:t>
            </a:r>
          </a:p>
        </p:txBody>
      </p:sp>
      <p:sp>
        <p:nvSpPr>
          <p:cNvPr id="53" name="Rectangle 52"/>
          <p:cNvSpPr/>
          <p:nvPr/>
        </p:nvSpPr>
        <p:spPr>
          <a:xfrm>
            <a:off x="5907024" y="3847011"/>
            <a:ext cx="1408176" cy="607422"/>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943600" y="3883587"/>
            <a:ext cx="1335024" cy="534270"/>
          </a:xfrm>
          <a:prstGeom prst="rect">
            <a:avLst/>
          </a:prstGeom>
          <a:noFill/>
        </p:spPr>
        <p:txBody>
          <a:bodyPr wrap="square">
            <a:spAutoFit/>
          </a:bodyPr>
          <a:lstStyle/>
          <a:p>
            <a:pPr algn="ctr"/>
            <a:r>
              <a:rPr sz="1400" b="0" i="0">
                <a:solidFill>
                  <a:srgbClr val="FFFFFF"/>
                </a:solidFill>
              </a:rPr>
              <a:t>edge2</a:t>
            </a:r>
          </a:p>
        </p:txBody>
      </p:sp>
      <p:sp>
        <p:nvSpPr>
          <p:cNvPr id="75" name="Rectangle 74"/>
          <p:cNvSpPr/>
          <p:nvPr/>
        </p:nvSpPr>
        <p:spPr>
          <a:xfrm>
            <a:off x="7498079" y="1417320"/>
            <a:ext cx="4343400" cy="274320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662671" y="1554480"/>
            <a:ext cx="4014216" cy="2468880"/>
          </a:xfrm>
          <a:prstGeom prst="rect">
            <a:avLst/>
          </a:prstGeom>
          <a:noFill/>
        </p:spPr>
        <p:txBody>
          <a:bodyPr wrap="square">
            <a:spAutoFit/>
          </a:bodyPr>
          <a:lstStyle/>
          <a:p>
            <a:pPr algn="l"/>
            <a:r>
              <a:rPr sz="1700" b="1">
                <a:solidFill>
                  <a:srgbClr val="FFD600"/>
                </a:solidFill>
              </a:rPr>
              <a:t>Key finding</a:t>
            </a:r>
          </a:p>
          <a:p>
            <a:pPr algn="l"/>
            <a:r>
              <a:rPr sz="1600">
                <a:solidFill>
                  <a:srgbClr val="FFFFFF"/>
                </a:solidFill>
              </a:rPr>
              <a:t>▸ Model ranks by distance alone: edge1 (5 ms) always first</a:t>
            </a:r>
          </a:p>
          <a:p>
            <a:pPr algn="l"/>
            <a:r>
              <a:rPr sz="1600">
                <a:solidFill>
                  <a:srgbClr val="FFFFFF"/>
                </a:solidFill>
              </a:rPr>
              <a:t>▸ At 60 players edge1 is 330x worse than edge2</a:t>
            </a:r>
          </a:p>
          <a:p>
            <a:pPr algn="l"/>
            <a:r>
              <a:rPr sz="1600">
                <a:solidFill>
                  <a:srgbClr val="FFFFFF"/>
                </a:solidFill>
              </a:rPr>
              <a:t>▸ Regret on the worst player: 7.66 s</a:t>
            </a:r>
          </a:p>
          <a:p>
            <a:pPr algn="l"/>
            <a:r>
              <a:rPr sz="1600">
                <a:solidFill>
                  <a:srgbClr val="FFFFFF"/>
                </a:solidFill>
              </a:rPr>
              <a:t>▸ Queueing and learned models switch to edge2 at 60: zero regret</a:t>
            </a:r>
          </a:p>
        </p:txBody>
      </p:sp>
      <p:pic>
        <p:nvPicPr>
          <p:cNvPr id="77" name="Picture 76" descr="fig1_p95_vs_players.png"/>
          <p:cNvPicPr>
            <a:picLocks noChangeAspect="1"/>
          </p:cNvPicPr>
          <p:nvPr/>
        </p:nvPicPr>
        <p:blipFill>
          <a:blip r:embed="rId3"/>
          <a:stretch>
            <a:fillRect/>
          </a:stretch>
        </p:blipFill>
        <p:spPr>
          <a:xfrm>
            <a:off x="7498079" y="4206240"/>
            <a:ext cx="3721395" cy="2286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Dataset and the Learned Predictor vs Analytical Formula</a:t>
            </a:r>
          </a:p>
        </p:txBody>
      </p:sp>
      <p:sp>
        <p:nvSpPr>
          <p:cNvPr id="4" name="TextBox 3"/>
          <p:cNvSpPr txBox="1"/>
          <p:nvPr/>
        </p:nvSpPr>
        <p:spPr>
          <a:xfrm>
            <a:off x="274320" y="914400"/>
            <a:ext cx="11704320" cy="365760"/>
          </a:xfrm>
          <a:prstGeom prst="rect">
            <a:avLst/>
          </a:prstGeom>
          <a:noFill/>
        </p:spPr>
        <p:txBody>
          <a:bodyPr wrap="square">
            <a:spAutoFit/>
          </a:bodyPr>
          <a:lstStyle/>
          <a:p>
            <a:pPr algn="l"/>
            <a:r>
              <a:rPr sz="1500" b="0" i="1">
                <a:solidFill>
                  <a:srgbClr val="00C2B2"/>
                </a:solidFill>
              </a:rPr>
              <a:t>Three latency models, fitted on one replicate, tested on the other</a:t>
            </a:r>
          </a:p>
        </p:txBody>
      </p:sp>
      <p:sp>
        <p:nvSpPr>
          <p:cNvPr id="5" name="Rectangle 4"/>
          <p:cNvSpPr/>
          <p:nvPr/>
        </p:nvSpPr>
        <p:spPr>
          <a:xfrm>
            <a:off x="274320" y="1417320"/>
            <a:ext cx="4800000" cy="516636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 y="1554480"/>
            <a:ext cx="4480000" cy="4900000"/>
          </a:xfrm>
          <a:prstGeom prst="rect">
            <a:avLst/>
          </a:prstGeom>
          <a:noFill/>
        </p:spPr>
        <p:txBody>
          <a:bodyPr wrap="square">
            <a:spAutoFit/>
          </a:bodyPr>
          <a:lstStyle/>
          <a:p>
            <a:pPr algn="l"/>
            <a:r>
              <a:rPr sz="1900" b="1">
                <a:solidFill>
                  <a:srgbClr val="00C2B2"/>
                </a:solidFill>
              </a:rPr>
              <a:t>Dataset and models</a:t>
            </a:r>
          </a:p>
          <a:p>
            <a:pPr algn="l"/>
            <a:r>
              <a:rPr sz="1800">
                <a:solidFill>
                  <a:srgbClr val="FFFFFF"/>
                </a:solidFill>
              </a:rPr>
              <a:t>▸ Dataset: 81 cells, 243 rows of 30 s windows (grid1, grid2, deployments)</a:t>
            </a:r>
          </a:p>
          <a:p>
            <a:pPr algn="l"/>
            <a:r>
              <a:rPr sz="1800">
                <a:solidFill>
                  <a:srgbClr val="FFFFFF"/>
                </a:solidFill>
              </a:rPr>
              <a:t>▸ Analytical: RTT + size/bandwidth, no load term</a:t>
            </a:r>
          </a:p>
          <a:p>
            <a:pPr algn="l"/>
            <a:r>
              <a:rPr sz="1800">
                <a:solidFill>
                  <a:srgbClr val="FFFFFF"/>
                </a:solidFill>
              </a:rPr>
              <a:t>▸ Queueing (M/M/1): RTT + s/(1−u), s fitted = 2.8 ms</a:t>
            </a:r>
          </a:p>
          <a:p>
            <a:pPr algn="l"/>
            <a:r>
              <a:rPr sz="1800">
                <a:solidFill>
                  <a:srgbClr val="FFFFFF"/>
                </a:solidFill>
              </a:rPr>
              <a:t>▸ Learned: RTT + gradient-boosted trees on utilization, players, cores</a:t>
            </a:r>
          </a:p>
          <a:p>
            <a:pPr algn="l"/>
            <a:r>
              <a:rPr sz="1800">
                <a:solidFill>
                  <a:srgbClr val="FFFFFF"/>
                </a:solidFill>
              </a:rPr>
              <a:t>▸ Median abs error: analytical 5.8 ms, queueing 1.8 ms, learned 0.9 ms</a:t>
            </a:r>
          </a:p>
          <a:p>
            <a:pPr algn="l"/>
            <a:r>
              <a:rPr sz="1800">
                <a:solidFill>
                  <a:srgbClr val="FFFFFF"/>
                </a:solidFill>
              </a:rPr>
              <a:t>▸ Learned transfers best to an unseen node on 3 of 4 nodes</a:t>
            </a:r>
          </a:p>
        </p:txBody>
      </p:sp>
      <p:pic>
        <p:nvPicPr>
          <p:cNvPr id="7" name="Picture 6" descr="fig4_predicted_vs_measured.png"/>
          <p:cNvPicPr>
            <a:picLocks noChangeAspect="1"/>
          </p:cNvPicPr>
          <p:nvPr/>
        </p:nvPicPr>
        <p:blipFill>
          <a:blip r:embed="rId3"/>
          <a:stretch>
            <a:fillRect/>
          </a:stretch>
        </p:blipFill>
        <p:spPr>
          <a:xfrm>
            <a:off x="5250000" y="2300000"/>
            <a:ext cx="6640000" cy="23904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Placement Algorithms Compared on Worst-Player Latency</a:t>
            </a:r>
          </a:p>
        </p:txBody>
      </p:sp>
      <p:sp>
        <p:nvSpPr>
          <p:cNvPr id="4" name="TextBox 3"/>
          <p:cNvSpPr txBox="1"/>
          <p:nvPr/>
        </p:nvSpPr>
        <p:spPr>
          <a:xfrm>
            <a:off x="274320" y="914400"/>
            <a:ext cx="11704320" cy="365760"/>
          </a:xfrm>
          <a:prstGeom prst="rect">
            <a:avLst/>
          </a:prstGeom>
          <a:noFill/>
        </p:spPr>
        <p:txBody>
          <a:bodyPr wrap="square">
            <a:spAutoFit/>
          </a:bodyPr>
          <a:lstStyle/>
          <a:p>
            <a:pPr algn="l"/>
            <a:r>
              <a:rPr sz="1500" b="0" i="1">
                <a:solidFill>
                  <a:srgbClr val="00C2B2"/>
                </a:solidFill>
              </a:rPr>
              <a:t>Each model's optimal placement deployed for real, all nodes loaded at once</a:t>
            </a:r>
          </a:p>
        </p:txBody>
      </p:sp>
      <p:sp>
        <p:nvSpPr>
          <p:cNvPr id="5" name="Rectangle 4"/>
          <p:cNvSpPr/>
          <p:nvPr/>
        </p:nvSpPr>
        <p:spPr>
          <a:xfrm>
            <a:off x="274320" y="1417320"/>
            <a:ext cx="5200000" cy="516636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 y="1554480"/>
            <a:ext cx="4880000" cy="4900000"/>
          </a:xfrm>
          <a:prstGeom prst="rect">
            <a:avLst/>
          </a:prstGeom>
          <a:noFill/>
        </p:spPr>
        <p:txBody>
          <a:bodyPr wrap="square">
            <a:spAutoFit/>
          </a:bodyPr>
          <a:lstStyle/>
          <a:p>
            <a:pPr algn="l"/>
            <a:r>
              <a:rPr sz="1900" b="1">
                <a:solidFill>
                  <a:srgbClr val="00C2B2"/>
                </a:solidFill>
              </a:rPr>
              <a:t>Worst player's measured p95</a:t>
            </a:r>
          </a:p>
          <a:p>
            <a:pPr algn="l"/>
            <a:r>
              <a:rPr sz="1800">
                <a:solidFill>
                  <a:srgbClr val="FFFFFF"/>
                </a:solidFill>
              </a:rPr>
              <a:t>▸ 40 players: analytical 26 ms · queueing 26 · learned 26</a:t>
            </a:r>
          </a:p>
          <a:p>
            <a:pPr algn="l"/>
            <a:r>
              <a:rPr sz="1800">
                <a:solidFill>
                  <a:srgbClr val="FFFFFF"/>
                </a:solidFill>
              </a:rPr>
              <a:t>▸ 80: analytical 29.9 s · queueing 20 ms · learned 20 ms</a:t>
            </a:r>
          </a:p>
          <a:p>
            <a:pPr algn="l"/>
            <a:r>
              <a:rPr sz="1800">
                <a:solidFill>
                  <a:srgbClr val="FFFFFF"/>
                </a:solidFill>
              </a:rPr>
              <a:t>▸ 120: analytical 17.8 s · queueing 31 ms · learned 32 ms</a:t>
            </a:r>
          </a:p>
          <a:p>
            <a:pPr algn="l"/>
            <a:r>
              <a:rPr sz="1800">
                <a:solidFill>
                  <a:srgbClr val="FFFFFF"/>
                </a:solidFill>
              </a:rPr>
              <a:t>▸ 160: analytical 20.0 s · queueing 35 ms · learned 39 ms</a:t>
            </a:r>
          </a:p>
          <a:p>
            <a:pPr algn="l"/>
            <a:r>
              <a:rPr sz="1800">
                <a:solidFill>
                  <a:srgbClr val="FFFFFF"/>
                </a:solidFill>
              </a:rPr>
              <a:t>▸ Load-blind puts everyone on the nearest node: 570–1500x worse</a:t>
            </a:r>
          </a:p>
          <a:p>
            <a:pPr algn="l"/>
            <a:r>
              <a:rPr sz="1800">
                <a:solidFill>
                  <a:srgbClr val="FFFFFF"/>
                </a:solidFill>
              </a:rPr>
              <a:t>▸ Both load-aware models keep edge1 at 40 and spread the rest</a:t>
            </a:r>
          </a:p>
          <a:p>
            <a:pPr algn="l"/>
            <a:r>
              <a:rPr sz="1800">
                <a:solidFill>
                  <a:srgbClr val="FFFFFF"/>
                </a:solidFill>
              </a:rPr>
              <a:t>▸ Learned predicts best, but places the same as fitted M/M/1</a:t>
            </a:r>
          </a:p>
        </p:txBody>
      </p:sp>
      <p:pic>
        <p:nvPicPr>
          <p:cNvPr id="7" name="Picture 6" descr="fig5_deployments.png"/>
          <p:cNvPicPr>
            <a:picLocks noChangeAspect="1"/>
          </p:cNvPicPr>
          <p:nvPr/>
        </p:nvPicPr>
        <p:blipFill>
          <a:blip r:embed="rId3"/>
          <a:stretch>
            <a:fillRect/>
          </a:stretch>
        </p:blipFill>
        <p:spPr>
          <a:xfrm>
            <a:off x="5650000" y="1900000"/>
            <a:ext cx="6240000" cy="3833143"/>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Limitations</a:t>
            </a:r>
          </a:p>
        </p:txBody>
      </p:sp>
      <p:sp>
        <p:nvSpPr>
          <p:cNvPr id="4" name="Rectangle 3"/>
          <p:cNvSpPr/>
          <p:nvPr/>
        </p:nvSpPr>
        <p:spPr>
          <a:xfrm>
            <a:off x="274320" y="1417320"/>
            <a:ext cx="5760720" cy="507492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1554480"/>
            <a:ext cx="5431536" cy="4800600"/>
          </a:xfrm>
          <a:prstGeom prst="rect">
            <a:avLst/>
          </a:prstGeom>
          <a:noFill/>
        </p:spPr>
        <p:txBody>
          <a:bodyPr wrap="square">
            <a:spAutoFit/>
          </a:bodyPr>
          <a:lstStyle/>
          <a:p>
            <a:pPr algn="l"/>
            <a:r>
              <a:rPr sz="1800" b="1">
                <a:solidFill>
                  <a:srgbClr val="00C2B2"/>
                </a:solidFill>
              </a:rPr>
              <a:t>Scope</a:t>
            </a:r>
          </a:p>
          <a:p>
            <a:pPr algn="l"/>
            <a:r>
              <a:rPr sz="1700">
                <a:solidFill>
                  <a:srgbClr val="FFFFFF"/>
                </a:solidFill>
              </a:rPr>
              <a:t>▸ One host, two replicates: a spread, not a confidence interval</a:t>
            </a:r>
          </a:p>
          <a:p>
            <a:pPr algn="l"/>
            <a:r>
              <a:rPr sz="1700">
                <a:solidFill>
                  <a:srgbClr val="FFFFFF"/>
                </a:solidFill>
              </a:rPr>
              <a:t>▸ Capacities and delays were chosen to create the trade-off</a:t>
            </a:r>
          </a:p>
          <a:p>
            <a:pPr algn="l"/>
            <a:r>
              <a:rPr sz="1700">
                <a:solidFill>
                  <a:srgbClr val="FFFFFF"/>
                </a:solidFill>
              </a:rPr>
              <a:t>▸ Bots, not humans; hostile mobs disabled</a:t>
            </a:r>
          </a:p>
          <a:p>
            <a:pPr algn="l"/>
            <a:r>
              <a:rPr sz="1700">
                <a:solidFill>
                  <a:srgbClr val="FFFFFF"/>
                </a:solidFill>
              </a:rPr>
              <a:t>▸ Four nodes, four placement scenarios</a:t>
            </a:r>
          </a:p>
        </p:txBody>
      </p:sp>
      <p:sp>
        <p:nvSpPr>
          <p:cNvPr id="6" name="Rectangle 5"/>
          <p:cNvSpPr/>
          <p:nvPr/>
        </p:nvSpPr>
        <p:spPr>
          <a:xfrm>
            <a:off x="6217920" y="1417320"/>
            <a:ext cx="5669280" cy="507492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82512" y="1554480"/>
            <a:ext cx="5340096" cy="4800600"/>
          </a:xfrm>
          <a:prstGeom prst="rect">
            <a:avLst/>
          </a:prstGeom>
          <a:noFill/>
        </p:spPr>
        <p:txBody>
          <a:bodyPr wrap="square">
            <a:spAutoFit/>
          </a:bodyPr>
          <a:lstStyle/>
          <a:p>
            <a:pPr algn="l"/>
            <a:r>
              <a:rPr sz="1800" b="1">
                <a:solidFill>
                  <a:srgbClr val="00C2B2"/>
                </a:solidFill>
              </a:rPr>
              <a:t>Measurement</a:t>
            </a:r>
          </a:p>
          <a:p>
            <a:pPr algn="l"/>
            <a:r>
              <a:rPr sz="1700">
                <a:solidFill>
                  <a:srgbClr val="FFFFFF"/>
                </a:solidFill>
              </a:rPr>
              <a:t>▸ Knees are unstable: replicates differ 6–80x there</a:t>
            </a:r>
          </a:p>
          <a:p>
            <a:pPr algn="l"/>
            <a:r>
              <a:rPr sz="1700">
                <a:solidFill>
                  <a:srgbClr val="FFFFFF"/>
                </a:solidFill>
              </a:rPr>
              <a:t>▸ Host processes can share the servers' cores: one contended run was 2.4x the CPU, excluded</a:t>
            </a:r>
          </a:p>
          <a:p>
            <a:pPr algn="l"/>
            <a:r>
              <a:rPr sz="1700">
                <a:solidFill>
                  <a:srgbClr val="FFFFFF"/>
                </a:solidFill>
              </a:rPr>
              <a:t>▸ edge3 and cloud never pushed past their knee (100-player ceiling)</a:t>
            </a:r>
          </a:p>
          <a:p>
            <a:pPr algn="l"/>
            <a:r>
              <a:rPr sz="1700">
                <a:solidFill>
                  <a:srgbClr val="FFFFFF"/>
                </a:solidFill>
              </a:rPr>
              <a:t>▸ Bandwidth term negligible: links carry no background traffic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Conclusion and Future Work</a:t>
            </a:r>
          </a:p>
        </p:txBody>
      </p:sp>
      <p:sp>
        <p:nvSpPr>
          <p:cNvPr id="4" name="Rectangle 3"/>
          <p:cNvSpPr/>
          <p:nvPr/>
        </p:nvSpPr>
        <p:spPr>
          <a:xfrm>
            <a:off x="274320" y="1417320"/>
            <a:ext cx="11612880" cy="297180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1554480"/>
            <a:ext cx="11283696" cy="2697480"/>
          </a:xfrm>
          <a:prstGeom prst="rect">
            <a:avLst/>
          </a:prstGeom>
          <a:noFill/>
        </p:spPr>
        <p:txBody>
          <a:bodyPr wrap="square">
            <a:spAutoFit/>
          </a:bodyPr>
          <a:lstStyle/>
          <a:p>
            <a:pPr algn="l"/>
            <a:r>
              <a:rPr sz="1800" b="1">
                <a:solidFill>
                  <a:srgbClr val="00C2B2"/>
                </a:solidFill>
              </a:rPr>
              <a:t>What this work shows</a:t>
            </a:r>
          </a:p>
          <a:p>
            <a:pPr algn="l"/>
            <a:r>
              <a:rPr sz="1700">
                <a:solidFill>
                  <a:srgbClr val="FFFFFF"/>
                </a:solidFill>
              </a:rPr>
              <a:t>▸ The load-blind formula is right only below a node's saturation point</a:t>
            </a:r>
          </a:p>
          <a:p>
            <a:pPr algn="l"/>
            <a:r>
              <a:rPr sz="1700">
                <a:solidFill>
                  <a:srgbClr val="FFFFFF"/>
                </a:solidFill>
              </a:rPr>
              <a:t>▸ Above it the error is seconds: 18–30 s worst-player latency, deployed</a:t>
            </a:r>
          </a:p>
          <a:p>
            <a:pPr algn="l"/>
            <a:r>
              <a:rPr sz="1700">
                <a:solidFill>
                  <a:srgbClr val="FFFFFF"/>
                </a:solidFill>
              </a:rPr>
              <a:t>▸ Load-aware placement keeps the same players at 20–39 ms</a:t>
            </a:r>
          </a:p>
          <a:p>
            <a:pPr algn="l"/>
            <a:r>
              <a:rPr sz="1700">
                <a:solidFill>
                  <a:srgbClr val="FFFFFF"/>
                </a:solidFill>
              </a:rPr>
              <a:t>▸ A learned model predicts latency best; a fitted M/M/1 already places right here</a:t>
            </a:r>
          </a:p>
          <a:p>
            <a:pPr algn="l"/>
            <a:r>
              <a:rPr sz="1700">
                <a:solidFill>
                  <a:srgbClr val="FFFFFF"/>
                </a:solidFill>
              </a:rPr>
              <a:t>▸ The latency term in placement must see load, and is better measured than assumed</a:t>
            </a:r>
          </a:p>
        </p:txBody>
      </p:sp>
      <p:sp>
        <p:nvSpPr>
          <p:cNvPr id="6" name="Rectangle 5"/>
          <p:cNvSpPr/>
          <p:nvPr/>
        </p:nvSpPr>
        <p:spPr>
          <a:xfrm>
            <a:off x="274320" y="4572000"/>
            <a:ext cx="11612880" cy="201168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 y="4709160"/>
            <a:ext cx="11283696" cy="1737360"/>
          </a:xfrm>
          <a:prstGeom prst="rect">
            <a:avLst/>
          </a:prstGeom>
          <a:noFill/>
        </p:spPr>
        <p:txBody>
          <a:bodyPr wrap="square">
            <a:spAutoFit/>
          </a:bodyPr>
          <a:lstStyle/>
          <a:p>
            <a:pPr algn="l"/>
            <a:r>
              <a:rPr sz="1800" b="1">
                <a:solidFill>
                  <a:srgbClr val="7B61FF"/>
                </a:solidFill>
              </a:rPr>
              <a:t>Future work</a:t>
            </a:r>
          </a:p>
          <a:p>
            <a:pPr algn="l"/>
            <a:r>
              <a:rPr sz="1700">
                <a:solidFill>
                  <a:srgbClr val="FFFFFF"/>
                </a:solidFill>
              </a:rPr>
              <a:t>▸ More replicates on a dedicated host, intervals on the knees</a:t>
            </a:r>
          </a:p>
          <a:p>
            <a:pPr algn="l"/>
            <a:r>
              <a:rPr sz="1700">
                <a:solidFill>
                  <a:srgbClr val="FFFFFF"/>
                </a:solidFill>
              </a:rPr>
              <a:t>▸ Push larger nodes past their knee; larger placement problems</a:t>
            </a:r>
          </a:p>
          <a:p>
            <a:pPr algn="l"/>
            <a:r>
              <a:rPr sz="1700">
                <a:solidFill>
                  <a:srgbClr val="FFFFFF"/>
                </a:solidFill>
              </a:rPr>
              <a:t>▸ Jitter, loss and bandwidth caps; mob AI back as a second load source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